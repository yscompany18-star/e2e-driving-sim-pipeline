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RQ1 Open-loop Simulation: 실주행 로그만으로 정적·동적 장면을 편집 가능한 형태로 고충실도 복원할 수 있는가?
RQ2 Closed-loop Simulation: Ego가 로그 궤적에서 벗어날 때도 센서 품질과 주변 에이전트의 반응성을 유지할 수 있는가?
RQ3 Simulation Requirement: 시뮬레이션 결과가 실차 성능을 얼마나 신뢰성 있게 예측하는가?
RQ4 Evaluation Process: 실차의 inference-to-actuation 지연을 시뮬레이터에서 재현해 평가 왜곡을 막을 수 있는가?
RQ5 Data Augmentation: 롱테일·안전임계 시나리오를 생성·발굴해 평가와 학습 커버리지를 넓힐 수 있는가?
세부 과제, Related Works, 과제별 설정은 Simulation_Pipeline.html에서 확인합니다.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RQ1 Open-loop Simulation: 실주행 로그만으로 정적·동적 장면을 편집 가능한 형태로 고충실도 복원할 수 있는가?
  - 해결 과제: 정적 배경과 동적 객체의 분리 (라벨 노이즈·가림) / 희소한 단일 궤적 관측으로 인한 미관측 영역 / 복원된 장면을 편집(삽입·삭제·궤적 변경)할 수 있는 표현
RQ2 Closed-loop Simulation: Ego가 로그 궤적에서 벗어날 때도 센서 품질과 주변 에이전트의 반응성을 유지할 수 있는가?
  - 해결 과제: novel view(차선 이동 등)에서의 렌더링 artifact / log-replay 에이전트의 비반응성 vs 재현성(world-on-rails) trade-off / 다중 에이전트 상호작용의 현실성
RQ3 Simulation Requirement: 시뮬레이션 결과가 실차 성능을 얼마나 신뢰성 있게 예측하는가?
  - 해결 과제: 자사 센서 구성·타이밍과의 동기화 / 충돌률 등 지표의 타당성 / 대규모 평가를 위한 속도 / 렌더링 품질과 sim-to-real gap / 자사 모델 포함 공정 비교 환경
RQ4 Evaluation Process: 실차의 inference-to-actuation 지연을 시뮬레이터에서 재현해 평가 왜곡을 막을 수 있는가?
  - 해결 과제: 모델 추론·제어·렌더링 지연의 분리 계측 / 지연을 반영한 closed-loop step 동기화
RQ5 Data Augmentation: 롱테일·안전임계 시나리오를 생성·발굴해 평가와 학습 커버리지를 넓힐 수 있는가?
  - 해결 과제: 현실적인 신규 시나리오 생성 / 기존 로그에서 희귀 시나리오 검색 / 생성·발굴 시나리오를 World Model로 센서 수준 렌더링
주황 점선은 원본 그림에 없던 제안 연결(Simulation Speed→Gaussian Compression, Latency→Sensor Integration Platform)입니다.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" y="128016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E2E 자율주행 Simulation Pipeline · 상위 구조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365760" y="502920"/>
            <a:ext cx="7772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연구 세션(RQ) → 핵심 기술 모듈 → World Model  |  세부 과제·Related Works·설정은 HTML 참고</a:t>
            </a:r>
            <a:endParaRPr lang="en-US" sz="1100" dirty="0"/>
          </a:p>
        </p:txBody>
      </p:sp>
      <p:sp>
        <p:nvSpPr>
          <p:cNvPr id="4" name="edge-0"/>
          <p:cNvSpPr/>
          <p:nvPr/>
        </p:nvSpPr>
        <p:spPr>
          <a:xfrm>
            <a:off x="8778240" y="246888"/>
            <a:ext cx="365760" cy="0"/>
          </a:xfrm>
          <a:prstGeom prst="line">
            <a:avLst/>
          </a:prstGeom>
          <a:noFill/>
          <a:ln w="19050">
            <a:solidFill>
              <a:srgbClr val="334155"/>
            </a:solidFill>
            <a:prstDash val="solid"/>
            <a:tailEnd type="triangle"/>
          </a:ln>
        </p:spPr>
      </p:sp>
      <p:sp>
        <p:nvSpPr>
          <p:cNvPr id="5" name="Text 3"/>
          <p:cNvSpPr txBox="1"/>
          <p:nvPr/>
        </p:nvSpPr>
        <p:spPr>
          <a:xfrm>
            <a:off x="9217152" y="137160"/>
            <a:ext cx="1737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세션 → 모듈 (세션 색)</a:t>
            </a:r>
            <a:endParaRPr lang="en-US" sz="900" dirty="0"/>
          </a:p>
        </p:txBody>
      </p:sp>
      <p:sp>
        <p:nvSpPr>
          <p:cNvPr id="6" name="edge-1"/>
          <p:cNvSpPr/>
          <p:nvPr/>
        </p:nvSpPr>
        <p:spPr>
          <a:xfrm>
            <a:off x="8778240" y="502920"/>
            <a:ext cx="365760" cy="0"/>
          </a:xfrm>
          <a:prstGeom prst="line">
            <a:avLst/>
          </a:prstGeom>
          <a:noFill/>
          <a:ln w="19050">
            <a:solidFill>
              <a:srgbClr val="C2410C"/>
            </a:solidFill>
            <a:prstDash val="dash"/>
            <a:tailEnd type="triangle"/>
          </a:ln>
        </p:spPr>
      </p:sp>
      <p:sp>
        <p:nvSpPr>
          <p:cNvPr id="7" name="Text 5"/>
          <p:cNvSpPr txBox="1"/>
          <p:nvPr/>
        </p:nvSpPr>
        <p:spPr>
          <a:xfrm>
            <a:off x="9217152" y="393192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제안 연결 (원본에 없음)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1783080" y="731520"/>
            <a:ext cx="3337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B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연구 세션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6766560" y="731520"/>
            <a:ext cx="2423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B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핵심 기술 모듈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9692640" y="731520"/>
            <a:ext cx="2148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B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생성 엔진</a:t>
            </a:r>
            <a:endParaRPr lang="en-US" sz="1000" dirty="0"/>
          </a:p>
        </p:txBody>
      </p:sp>
      <p:sp>
        <p:nvSpPr>
          <p:cNvPr id="11" name="edge-2"/>
          <p:cNvSpPr/>
          <p:nvPr/>
        </p:nvSpPr>
        <p:spPr>
          <a:xfrm>
            <a:off x="1517904" y="3611880"/>
            <a:ext cx="109728" cy="0"/>
          </a:xfrm>
          <a:prstGeom prst="line">
            <a:avLst/>
          </a:prstGeom>
          <a:noFill/>
          <a:ln w="13970">
            <a:solidFill>
              <a:srgbClr val="9AA3AE"/>
            </a:solidFill>
            <a:prstDash val="solid"/>
          </a:ln>
        </p:spPr>
      </p:sp>
      <p:sp>
        <p:nvSpPr>
          <p:cNvPr id="12" name="edge-3"/>
          <p:cNvSpPr/>
          <p:nvPr/>
        </p:nvSpPr>
        <p:spPr>
          <a:xfrm>
            <a:off x="1627632" y="1417320"/>
            <a:ext cx="0" cy="4389120"/>
          </a:xfrm>
          <a:prstGeom prst="line">
            <a:avLst/>
          </a:prstGeom>
          <a:noFill/>
          <a:ln w="13970">
            <a:solidFill>
              <a:srgbClr val="9AA3AE"/>
            </a:solidFill>
            <a:prstDash val="solid"/>
          </a:ln>
        </p:spPr>
      </p:sp>
      <p:sp>
        <p:nvSpPr>
          <p:cNvPr id="13" name="edge-4"/>
          <p:cNvSpPr/>
          <p:nvPr/>
        </p:nvSpPr>
        <p:spPr>
          <a:xfrm>
            <a:off x="1627632" y="1417320"/>
            <a:ext cx="155448" cy="0"/>
          </a:xfrm>
          <a:prstGeom prst="line">
            <a:avLst/>
          </a:prstGeom>
          <a:noFill/>
          <a:ln w="13970">
            <a:solidFill>
              <a:srgbClr val="9AA3AE"/>
            </a:solidFill>
            <a:prstDash val="solid"/>
          </a:ln>
        </p:spPr>
      </p:sp>
      <p:sp>
        <p:nvSpPr>
          <p:cNvPr id="14" name="edge-5"/>
          <p:cNvSpPr/>
          <p:nvPr/>
        </p:nvSpPr>
        <p:spPr>
          <a:xfrm>
            <a:off x="1627632" y="2514600"/>
            <a:ext cx="155448" cy="0"/>
          </a:xfrm>
          <a:prstGeom prst="line">
            <a:avLst/>
          </a:prstGeom>
          <a:noFill/>
          <a:ln w="13970">
            <a:solidFill>
              <a:srgbClr val="9AA3AE"/>
            </a:solidFill>
            <a:prstDash val="solid"/>
          </a:ln>
        </p:spPr>
      </p:sp>
      <p:sp>
        <p:nvSpPr>
          <p:cNvPr id="15" name="edge-6"/>
          <p:cNvSpPr/>
          <p:nvPr/>
        </p:nvSpPr>
        <p:spPr>
          <a:xfrm>
            <a:off x="1627632" y="3611880"/>
            <a:ext cx="155448" cy="0"/>
          </a:xfrm>
          <a:prstGeom prst="line">
            <a:avLst/>
          </a:prstGeom>
          <a:noFill/>
          <a:ln w="13970">
            <a:solidFill>
              <a:srgbClr val="9AA3AE"/>
            </a:solidFill>
            <a:prstDash val="solid"/>
          </a:ln>
        </p:spPr>
      </p:sp>
      <p:sp>
        <p:nvSpPr>
          <p:cNvPr id="16" name="edge-7"/>
          <p:cNvSpPr/>
          <p:nvPr/>
        </p:nvSpPr>
        <p:spPr>
          <a:xfrm>
            <a:off x="1627632" y="4709160"/>
            <a:ext cx="155448" cy="0"/>
          </a:xfrm>
          <a:prstGeom prst="line">
            <a:avLst/>
          </a:prstGeom>
          <a:noFill/>
          <a:ln w="13970">
            <a:solidFill>
              <a:srgbClr val="9AA3AE"/>
            </a:solidFill>
            <a:prstDash val="solid"/>
          </a:ln>
        </p:spPr>
      </p:sp>
      <p:sp>
        <p:nvSpPr>
          <p:cNvPr id="17" name="edge-8"/>
          <p:cNvSpPr/>
          <p:nvPr/>
        </p:nvSpPr>
        <p:spPr>
          <a:xfrm>
            <a:off x="1627632" y="5806440"/>
            <a:ext cx="155448" cy="0"/>
          </a:xfrm>
          <a:prstGeom prst="line">
            <a:avLst/>
          </a:prstGeom>
          <a:noFill/>
          <a:ln w="13970">
            <a:solidFill>
              <a:srgbClr val="9AA3AE"/>
            </a:solidFill>
            <a:prstDash val="solid"/>
          </a:ln>
        </p:spPr>
      </p:sp>
      <p:sp>
        <p:nvSpPr>
          <p:cNvPr id="18" name="edge-9"/>
          <p:cNvSpPr/>
          <p:nvPr/>
        </p:nvSpPr>
        <p:spPr>
          <a:xfrm>
            <a:off x="5120640" y="1417320"/>
            <a:ext cx="1051560" cy="0"/>
          </a:xfrm>
          <a:prstGeom prst="line">
            <a:avLst/>
          </a:prstGeom>
          <a:noFill/>
          <a:ln w="19050">
            <a:solidFill>
              <a:srgbClr val="0E7C66"/>
            </a:solidFill>
            <a:prstDash val="solid"/>
          </a:ln>
        </p:spPr>
      </p:sp>
      <p:sp>
        <p:nvSpPr>
          <p:cNvPr id="19" name="edge-10"/>
          <p:cNvSpPr/>
          <p:nvPr/>
        </p:nvSpPr>
        <p:spPr>
          <a:xfrm>
            <a:off x="6172200" y="1234440"/>
            <a:ext cx="0" cy="1600200"/>
          </a:xfrm>
          <a:prstGeom prst="line">
            <a:avLst/>
          </a:prstGeom>
          <a:noFill/>
          <a:ln w="19050">
            <a:solidFill>
              <a:srgbClr val="0E7C66"/>
            </a:solidFill>
            <a:prstDash val="solid"/>
          </a:ln>
        </p:spPr>
      </p:sp>
      <p:sp>
        <p:nvSpPr>
          <p:cNvPr id="20" name="edge-11"/>
          <p:cNvSpPr/>
          <p:nvPr/>
        </p:nvSpPr>
        <p:spPr>
          <a:xfrm>
            <a:off x="6172200" y="1234440"/>
            <a:ext cx="594360" cy="0"/>
          </a:xfrm>
          <a:prstGeom prst="line">
            <a:avLst/>
          </a:prstGeom>
          <a:noFill/>
          <a:ln w="19050">
            <a:solidFill>
              <a:srgbClr val="0E7C66"/>
            </a:solidFill>
            <a:prstDash val="solid"/>
            <a:tailEnd type="triangle"/>
          </a:ln>
        </p:spPr>
      </p:sp>
      <p:sp>
        <p:nvSpPr>
          <p:cNvPr id="21" name="edge-12"/>
          <p:cNvSpPr/>
          <p:nvPr/>
        </p:nvSpPr>
        <p:spPr>
          <a:xfrm>
            <a:off x="6172200" y="2011680"/>
            <a:ext cx="594360" cy="0"/>
          </a:xfrm>
          <a:prstGeom prst="line">
            <a:avLst/>
          </a:prstGeom>
          <a:noFill/>
          <a:ln w="19050">
            <a:solidFill>
              <a:srgbClr val="0E7C66"/>
            </a:solidFill>
            <a:prstDash val="solid"/>
            <a:tailEnd type="triangle"/>
          </a:ln>
        </p:spPr>
      </p:sp>
      <p:sp>
        <p:nvSpPr>
          <p:cNvPr id="22" name="edge-13"/>
          <p:cNvSpPr/>
          <p:nvPr/>
        </p:nvSpPr>
        <p:spPr>
          <a:xfrm>
            <a:off x="6172200" y="2834640"/>
            <a:ext cx="594360" cy="0"/>
          </a:xfrm>
          <a:prstGeom prst="line">
            <a:avLst/>
          </a:prstGeom>
          <a:noFill/>
          <a:ln w="19050">
            <a:solidFill>
              <a:srgbClr val="0E7C66"/>
            </a:solidFill>
            <a:prstDash val="solid"/>
            <a:tailEnd type="triangle"/>
          </a:ln>
        </p:spPr>
      </p:sp>
      <p:sp>
        <p:nvSpPr>
          <p:cNvPr id="23" name="edge-14"/>
          <p:cNvSpPr/>
          <p:nvPr/>
        </p:nvSpPr>
        <p:spPr>
          <a:xfrm>
            <a:off x="5120640" y="2514600"/>
            <a:ext cx="731520" cy="0"/>
          </a:xfrm>
          <a:prstGeom prst="line">
            <a:avLst/>
          </a:prstGeom>
          <a:noFill/>
          <a:ln w="19050">
            <a:solidFill>
              <a:srgbClr val="4F46B8"/>
            </a:solidFill>
            <a:prstDash val="solid"/>
          </a:ln>
        </p:spPr>
      </p:sp>
      <p:sp>
        <p:nvSpPr>
          <p:cNvPr id="24" name="edge-15"/>
          <p:cNvSpPr/>
          <p:nvPr/>
        </p:nvSpPr>
        <p:spPr>
          <a:xfrm>
            <a:off x="5852160" y="2194560"/>
            <a:ext cx="0" cy="777240"/>
          </a:xfrm>
          <a:prstGeom prst="line">
            <a:avLst/>
          </a:prstGeom>
          <a:noFill/>
          <a:ln w="19050">
            <a:solidFill>
              <a:srgbClr val="4F46B8"/>
            </a:solidFill>
            <a:prstDash val="solid"/>
          </a:ln>
        </p:spPr>
      </p:sp>
      <p:sp>
        <p:nvSpPr>
          <p:cNvPr id="25" name="edge-16"/>
          <p:cNvSpPr/>
          <p:nvPr/>
        </p:nvSpPr>
        <p:spPr>
          <a:xfrm>
            <a:off x="5852160" y="2194560"/>
            <a:ext cx="914400" cy="0"/>
          </a:xfrm>
          <a:prstGeom prst="line">
            <a:avLst/>
          </a:prstGeom>
          <a:noFill/>
          <a:ln w="19050">
            <a:solidFill>
              <a:srgbClr val="4F46B8"/>
            </a:solidFill>
            <a:prstDash val="solid"/>
            <a:tailEnd type="triangle"/>
          </a:ln>
        </p:spPr>
      </p:sp>
      <p:sp>
        <p:nvSpPr>
          <p:cNvPr id="26" name="edge-17"/>
          <p:cNvSpPr/>
          <p:nvPr/>
        </p:nvSpPr>
        <p:spPr>
          <a:xfrm>
            <a:off x="5852160" y="2971800"/>
            <a:ext cx="914400" cy="0"/>
          </a:xfrm>
          <a:prstGeom prst="line">
            <a:avLst/>
          </a:prstGeom>
          <a:noFill/>
          <a:ln w="19050">
            <a:solidFill>
              <a:srgbClr val="4F46B8"/>
            </a:solidFill>
            <a:prstDash val="solid"/>
            <a:tailEnd type="triangle"/>
          </a:ln>
        </p:spPr>
      </p:sp>
      <p:sp>
        <p:nvSpPr>
          <p:cNvPr id="27" name="edge-18"/>
          <p:cNvSpPr/>
          <p:nvPr/>
        </p:nvSpPr>
        <p:spPr>
          <a:xfrm>
            <a:off x="5120640" y="3611880"/>
            <a:ext cx="411480" cy="0"/>
          </a:xfrm>
          <a:prstGeom prst="line">
            <a:avLst/>
          </a:prstGeom>
          <a:noFill/>
          <a:ln w="19050">
            <a:solidFill>
              <a:srgbClr val="B4581A"/>
            </a:solidFill>
            <a:prstDash val="solid"/>
          </a:ln>
        </p:spPr>
      </p:sp>
      <p:sp>
        <p:nvSpPr>
          <p:cNvPr id="28" name="edge-19"/>
          <p:cNvSpPr/>
          <p:nvPr/>
        </p:nvSpPr>
        <p:spPr>
          <a:xfrm>
            <a:off x="5532120" y="3108960"/>
            <a:ext cx="0" cy="1508760"/>
          </a:xfrm>
          <a:prstGeom prst="line">
            <a:avLst/>
          </a:prstGeom>
          <a:noFill/>
          <a:ln w="19050">
            <a:solidFill>
              <a:srgbClr val="B4581A"/>
            </a:solidFill>
            <a:prstDash val="solid"/>
          </a:ln>
        </p:spPr>
      </p:sp>
      <p:sp>
        <p:nvSpPr>
          <p:cNvPr id="29" name="edge-20"/>
          <p:cNvSpPr/>
          <p:nvPr/>
        </p:nvSpPr>
        <p:spPr>
          <a:xfrm>
            <a:off x="5532120" y="3108960"/>
            <a:ext cx="1234440" cy="0"/>
          </a:xfrm>
          <a:prstGeom prst="line">
            <a:avLst/>
          </a:prstGeom>
          <a:noFill/>
          <a:ln w="19050">
            <a:solidFill>
              <a:srgbClr val="B4581A"/>
            </a:solidFill>
            <a:prstDash val="solid"/>
            <a:tailEnd type="triangle"/>
          </a:ln>
        </p:spPr>
      </p:sp>
      <p:sp>
        <p:nvSpPr>
          <p:cNvPr id="30" name="edge-21"/>
          <p:cNvSpPr/>
          <p:nvPr/>
        </p:nvSpPr>
        <p:spPr>
          <a:xfrm>
            <a:off x="5532120" y="3840480"/>
            <a:ext cx="1234440" cy="0"/>
          </a:xfrm>
          <a:prstGeom prst="line">
            <a:avLst/>
          </a:prstGeom>
          <a:noFill/>
          <a:ln w="19050">
            <a:solidFill>
              <a:srgbClr val="C2410C"/>
            </a:solidFill>
            <a:prstDash val="dash"/>
            <a:tailEnd type="triangle"/>
          </a:ln>
        </p:spPr>
      </p:sp>
      <p:sp>
        <p:nvSpPr>
          <p:cNvPr id="31" name="edge-22"/>
          <p:cNvSpPr/>
          <p:nvPr/>
        </p:nvSpPr>
        <p:spPr>
          <a:xfrm>
            <a:off x="5532120" y="4617720"/>
            <a:ext cx="1234440" cy="0"/>
          </a:xfrm>
          <a:prstGeom prst="line">
            <a:avLst/>
          </a:prstGeom>
          <a:noFill/>
          <a:ln w="19050">
            <a:solidFill>
              <a:srgbClr val="B4581A"/>
            </a:solidFill>
            <a:prstDash val="solid"/>
            <a:tailEnd type="triangle"/>
          </a:ln>
        </p:spPr>
      </p:sp>
      <p:sp>
        <p:nvSpPr>
          <p:cNvPr id="32" name="edge-23"/>
          <p:cNvSpPr/>
          <p:nvPr/>
        </p:nvSpPr>
        <p:spPr>
          <a:xfrm>
            <a:off x="5120640" y="4709160"/>
            <a:ext cx="228600" cy="0"/>
          </a:xfrm>
          <a:prstGeom prst="line">
            <a:avLst/>
          </a:prstGeom>
          <a:noFill/>
          <a:ln w="19050">
            <a:solidFill>
              <a:srgbClr val="C2410C"/>
            </a:solidFill>
            <a:prstDash val="dash"/>
          </a:ln>
        </p:spPr>
      </p:sp>
      <p:sp>
        <p:nvSpPr>
          <p:cNvPr id="33" name="edge-24"/>
          <p:cNvSpPr/>
          <p:nvPr/>
        </p:nvSpPr>
        <p:spPr>
          <a:xfrm>
            <a:off x="5349240" y="4709160"/>
            <a:ext cx="0" cy="91440"/>
          </a:xfrm>
          <a:prstGeom prst="line">
            <a:avLst/>
          </a:prstGeom>
          <a:noFill/>
          <a:ln w="19050">
            <a:solidFill>
              <a:srgbClr val="C2410C"/>
            </a:solidFill>
            <a:prstDash val="dash"/>
          </a:ln>
        </p:spPr>
      </p:sp>
      <p:sp>
        <p:nvSpPr>
          <p:cNvPr id="34" name="edge-25"/>
          <p:cNvSpPr/>
          <p:nvPr/>
        </p:nvSpPr>
        <p:spPr>
          <a:xfrm>
            <a:off x="5349240" y="4800600"/>
            <a:ext cx="1417320" cy="0"/>
          </a:xfrm>
          <a:prstGeom prst="line">
            <a:avLst/>
          </a:prstGeom>
          <a:noFill/>
          <a:ln w="19050">
            <a:solidFill>
              <a:srgbClr val="C2410C"/>
            </a:solidFill>
            <a:prstDash val="dash"/>
            <a:tailEnd type="triangle"/>
          </a:ln>
        </p:spPr>
      </p:sp>
      <p:sp>
        <p:nvSpPr>
          <p:cNvPr id="35" name="edge-26"/>
          <p:cNvSpPr/>
          <p:nvPr/>
        </p:nvSpPr>
        <p:spPr>
          <a:xfrm>
            <a:off x="9189720" y="2103120"/>
            <a:ext cx="502920" cy="0"/>
          </a:xfrm>
          <a:prstGeom prst="line">
            <a:avLst/>
          </a:prstGeom>
          <a:noFill/>
          <a:ln w="19050">
            <a:solidFill>
              <a:srgbClr val="334155"/>
            </a:solidFill>
            <a:prstDash val="solid"/>
            <a:tailEnd type="triangle"/>
          </a:ln>
        </p:spPr>
      </p:sp>
      <p:sp>
        <p:nvSpPr>
          <p:cNvPr id="36" name="edge-27"/>
          <p:cNvSpPr/>
          <p:nvPr/>
        </p:nvSpPr>
        <p:spPr>
          <a:xfrm>
            <a:off x="5120640" y="5806440"/>
            <a:ext cx="5646420" cy="0"/>
          </a:xfrm>
          <a:prstGeom prst="line">
            <a:avLst/>
          </a:prstGeom>
          <a:noFill/>
          <a:ln w="19050">
            <a:solidFill>
              <a:srgbClr val="3C7A1E"/>
            </a:solidFill>
            <a:prstDash val="solid"/>
          </a:ln>
        </p:spPr>
      </p:sp>
      <p:sp>
        <p:nvSpPr>
          <p:cNvPr id="37" name="edge-28"/>
          <p:cNvSpPr/>
          <p:nvPr/>
        </p:nvSpPr>
        <p:spPr>
          <a:xfrm flipV="1">
            <a:off x="10767060" y="2926080"/>
            <a:ext cx="0" cy="2880360"/>
          </a:xfrm>
          <a:prstGeom prst="line">
            <a:avLst/>
          </a:prstGeom>
          <a:noFill/>
          <a:ln w="19050">
            <a:solidFill>
              <a:srgbClr val="3C7A1E"/>
            </a:solidFill>
            <a:prstDash val="solid"/>
            <a:tailEnd type="triangle"/>
          </a:ln>
        </p:spPr>
      </p:sp>
      <p:sp>
        <p:nvSpPr>
          <p:cNvPr id="38" name="node-root"/>
          <p:cNvSpPr/>
          <p:nvPr/>
        </p:nvSpPr>
        <p:spPr>
          <a:xfrm>
            <a:off x="274320" y="3268980"/>
            <a:ext cx="1243584" cy="685800"/>
          </a:xfrm>
          <a:prstGeom prst="rect">
            <a:avLst/>
          </a:prstGeom>
          <a:solidFill>
            <a:srgbClr val="1E2733"/>
          </a:solidFill>
          <a:ln w="12700">
            <a:solidFill>
              <a:srgbClr val="1E2733"/>
            </a:solidFill>
            <a:prstDash val="solid"/>
          </a:ln>
        </p:spPr>
      </p:sp>
      <p:sp>
        <p:nvSpPr>
          <p:cNvPr id="39" name="label-root"/>
          <p:cNvSpPr txBox="1"/>
          <p:nvPr/>
        </p:nvSpPr>
        <p:spPr>
          <a:xfrm>
            <a:off x="384048" y="3268980"/>
            <a:ext cx="102412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Simulation</a:t>
            </a:r>
            <a:endParaRPr lang="en-US" sz="1400" dirty="0"/>
          </a:p>
        </p:txBody>
      </p:sp>
      <p:sp>
        <p:nvSpPr>
          <p:cNvPr id="40" name="node-s_ol"/>
          <p:cNvSpPr/>
          <p:nvPr/>
        </p:nvSpPr>
        <p:spPr>
          <a:xfrm>
            <a:off x="1783080" y="969264"/>
            <a:ext cx="3337560" cy="896112"/>
          </a:xfrm>
          <a:prstGeom prst="rect">
            <a:avLst/>
          </a:prstGeom>
          <a:solidFill>
            <a:srgbClr val="FFFFFF"/>
          </a:solidFill>
          <a:ln w="22225">
            <a:solidFill>
              <a:srgbClr val="0E7C66"/>
            </a:solidFill>
            <a:prstDash val="solid"/>
          </a:ln>
        </p:spPr>
      </p:sp>
      <p:sp>
        <p:nvSpPr>
          <p:cNvPr id="41" name="label-s_ol"/>
          <p:cNvSpPr txBox="1"/>
          <p:nvPr/>
        </p:nvSpPr>
        <p:spPr>
          <a:xfrm>
            <a:off x="1892808" y="969264"/>
            <a:ext cx="3118104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E7C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RQ1  </a:t>
            </a:r>
            <a:pPr algn="l" indent="0" marL="0">
              <a:buNone/>
            </a:pPr>
            <a:r>
              <a:rPr lang="en-US" sz="1300" b="1" dirty="0">
                <a:solidFill>
                  <a:srgbClr val="1E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Open-loop Simulation</a:t>
            </a:r>
            <a:endParaRPr lang="en-US" sz="110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5B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실주행 로그만으로 정적·동적 장면을 편집 가능한 형태로 고충실도 복원할 수 있는가?</a:t>
            </a:r>
            <a:endParaRPr lang="en-US" sz="1100" dirty="0"/>
          </a:p>
        </p:txBody>
      </p:sp>
      <p:sp>
        <p:nvSpPr>
          <p:cNvPr id="42" name="node-s_cl"/>
          <p:cNvSpPr/>
          <p:nvPr/>
        </p:nvSpPr>
        <p:spPr>
          <a:xfrm>
            <a:off x="1783080" y="2066544"/>
            <a:ext cx="3337560" cy="896112"/>
          </a:xfrm>
          <a:prstGeom prst="rect">
            <a:avLst/>
          </a:prstGeom>
          <a:solidFill>
            <a:srgbClr val="FFFFFF"/>
          </a:solidFill>
          <a:ln w="22225">
            <a:solidFill>
              <a:srgbClr val="4F46B8"/>
            </a:solidFill>
            <a:prstDash val="solid"/>
          </a:ln>
        </p:spPr>
      </p:sp>
      <p:sp>
        <p:nvSpPr>
          <p:cNvPr id="43" name="label-s_cl"/>
          <p:cNvSpPr txBox="1"/>
          <p:nvPr/>
        </p:nvSpPr>
        <p:spPr>
          <a:xfrm>
            <a:off x="1892808" y="2066544"/>
            <a:ext cx="3118104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4F46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RQ2  </a:t>
            </a:r>
            <a:pPr algn="l" indent="0" marL="0">
              <a:buNone/>
            </a:pPr>
            <a:r>
              <a:rPr lang="en-US" sz="1300" b="1" dirty="0">
                <a:solidFill>
                  <a:srgbClr val="1E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Closed-loop Simulation</a:t>
            </a:r>
            <a:endParaRPr lang="en-US" sz="110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5B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Ego가 로그 궤적에서 벗어날 때도 센서 품질과 주변 에이전트의 반응성을 유지할 수 있는가?</a:t>
            </a:r>
            <a:endParaRPr lang="en-US" sz="1100" dirty="0"/>
          </a:p>
        </p:txBody>
      </p:sp>
      <p:sp>
        <p:nvSpPr>
          <p:cNvPr id="44" name="node-s_req"/>
          <p:cNvSpPr/>
          <p:nvPr/>
        </p:nvSpPr>
        <p:spPr>
          <a:xfrm>
            <a:off x="1783080" y="3163824"/>
            <a:ext cx="3337560" cy="896112"/>
          </a:xfrm>
          <a:prstGeom prst="rect">
            <a:avLst/>
          </a:prstGeom>
          <a:solidFill>
            <a:srgbClr val="FFFFFF"/>
          </a:solidFill>
          <a:ln w="22225">
            <a:solidFill>
              <a:srgbClr val="B4581A"/>
            </a:solidFill>
            <a:prstDash val="solid"/>
          </a:ln>
        </p:spPr>
      </p:sp>
      <p:sp>
        <p:nvSpPr>
          <p:cNvPr id="45" name="label-s_req"/>
          <p:cNvSpPr txBox="1"/>
          <p:nvPr/>
        </p:nvSpPr>
        <p:spPr>
          <a:xfrm>
            <a:off x="1892808" y="3163824"/>
            <a:ext cx="3118104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B458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RQ3  </a:t>
            </a:r>
            <a:pPr algn="l" indent="0" marL="0">
              <a:buNone/>
            </a:pPr>
            <a:r>
              <a:rPr lang="en-US" sz="1300" b="1" dirty="0">
                <a:solidFill>
                  <a:srgbClr val="1E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Simulation Requirement</a:t>
            </a:r>
            <a:endParaRPr lang="en-US" sz="110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5B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시뮬레이션 결과가 실차 성능을 얼마나 신뢰성 있게 예측하는가?</a:t>
            </a:r>
            <a:endParaRPr lang="en-US" sz="1100" dirty="0"/>
          </a:p>
        </p:txBody>
      </p:sp>
      <p:sp>
        <p:nvSpPr>
          <p:cNvPr id="46" name="node-s_eval"/>
          <p:cNvSpPr/>
          <p:nvPr/>
        </p:nvSpPr>
        <p:spPr>
          <a:xfrm>
            <a:off x="1783080" y="4261104"/>
            <a:ext cx="3337560" cy="896112"/>
          </a:xfrm>
          <a:prstGeom prst="rect">
            <a:avLst/>
          </a:prstGeom>
          <a:solidFill>
            <a:srgbClr val="FFFFFF"/>
          </a:solidFill>
          <a:ln w="22225">
            <a:solidFill>
              <a:srgbClr val="B3264A"/>
            </a:solidFill>
            <a:prstDash val="solid"/>
          </a:ln>
        </p:spPr>
      </p:sp>
      <p:sp>
        <p:nvSpPr>
          <p:cNvPr id="47" name="label-s_eval"/>
          <p:cNvSpPr txBox="1"/>
          <p:nvPr/>
        </p:nvSpPr>
        <p:spPr>
          <a:xfrm>
            <a:off x="1892808" y="4261104"/>
            <a:ext cx="3118104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B326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RQ4  </a:t>
            </a:r>
            <a:pPr algn="l" indent="0" marL="0">
              <a:buNone/>
            </a:pPr>
            <a:r>
              <a:rPr lang="en-US" sz="1300" b="1" dirty="0">
                <a:solidFill>
                  <a:srgbClr val="1E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Evaluation Process</a:t>
            </a:r>
            <a:endParaRPr lang="en-US" sz="110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5B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실차의 inference-to-actuation 지연을 시뮬레이터에서 재현해 평가 왜곡을 막을 수 있는가?</a:t>
            </a:r>
            <a:endParaRPr lang="en-US" sz="1100" dirty="0"/>
          </a:p>
        </p:txBody>
      </p:sp>
      <p:sp>
        <p:nvSpPr>
          <p:cNvPr id="48" name="node-s_aug"/>
          <p:cNvSpPr/>
          <p:nvPr/>
        </p:nvSpPr>
        <p:spPr>
          <a:xfrm>
            <a:off x="1783080" y="5358384"/>
            <a:ext cx="3337560" cy="896112"/>
          </a:xfrm>
          <a:prstGeom prst="rect">
            <a:avLst/>
          </a:prstGeom>
          <a:solidFill>
            <a:srgbClr val="FFFFFF"/>
          </a:solidFill>
          <a:ln w="22225">
            <a:solidFill>
              <a:srgbClr val="3C7A1E"/>
            </a:solidFill>
            <a:prstDash val="solid"/>
          </a:ln>
        </p:spPr>
      </p:sp>
      <p:sp>
        <p:nvSpPr>
          <p:cNvPr id="49" name="label-s_aug"/>
          <p:cNvSpPr txBox="1"/>
          <p:nvPr/>
        </p:nvSpPr>
        <p:spPr>
          <a:xfrm>
            <a:off x="1892808" y="5358384"/>
            <a:ext cx="3118104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3C7A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RQ5  </a:t>
            </a:r>
            <a:pPr algn="l" indent="0" marL="0">
              <a:buNone/>
            </a:pPr>
            <a:r>
              <a:rPr lang="en-US" sz="1300" b="1" dirty="0">
                <a:solidFill>
                  <a:srgbClr val="1E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Augmentation</a:t>
            </a:r>
            <a:endParaRPr lang="en-US" sz="110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5B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롱테일·안전임계 시나리오를 생성·발굴해 평가와 학습 커버리지를 넓힐 수 있는가?</a:t>
            </a:r>
            <a:endParaRPr lang="en-US" sz="1100" dirty="0"/>
          </a:p>
        </p:txBody>
      </p:sp>
      <p:sp>
        <p:nvSpPr>
          <p:cNvPr id="50" name="node-edit"/>
          <p:cNvSpPr/>
          <p:nvPr/>
        </p:nvSpPr>
        <p:spPr>
          <a:xfrm>
            <a:off x="6766560" y="950976"/>
            <a:ext cx="2423160" cy="566928"/>
          </a:xfrm>
          <a:prstGeom prst="rect">
            <a:avLst/>
          </a:prstGeom>
          <a:solidFill>
            <a:srgbClr val="26313F"/>
          </a:solidFill>
          <a:ln w="12700">
            <a:solidFill>
              <a:srgbClr val="26313F"/>
            </a:solidFill>
            <a:prstDash val="solid"/>
          </a:ln>
        </p:spPr>
      </p:sp>
      <p:sp>
        <p:nvSpPr>
          <p:cNvPr id="51" name="label-edit"/>
          <p:cNvSpPr txBox="1"/>
          <p:nvPr/>
        </p:nvSpPr>
        <p:spPr>
          <a:xfrm>
            <a:off x="6876288" y="950976"/>
            <a:ext cx="22037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Driving Scene Editing</a:t>
            </a:r>
            <a:endParaRPr lang="en-US" sz="11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D9E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World-on-Rails</a:t>
            </a:r>
            <a:endParaRPr lang="en-US" sz="1100" dirty="0"/>
          </a:p>
        </p:txBody>
      </p:sp>
      <p:sp>
        <p:nvSpPr>
          <p:cNvPr id="52" name="node-multiagent"/>
          <p:cNvSpPr/>
          <p:nvPr/>
        </p:nvSpPr>
        <p:spPr>
          <a:xfrm>
            <a:off x="6766560" y="1819656"/>
            <a:ext cx="2423160" cy="566928"/>
          </a:xfrm>
          <a:prstGeom prst="rect">
            <a:avLst/>
          </a:prstGeom>
          <a:solidFill>
            <a:srgbClr val="26313F"/>
          </a:solidFill>
          <a:ln w="12700">
            <a:solidFill>
              <a:srgbClr val="26313F"/>
            </a:solidFill>
            <a:prstDash val="solid"/>
          </a:ln>
        </p:spPr>
      </p:sp>
      <p:sp>
        <p:nvSpPr>
          <p:cNvPr id="53" name="label-multiagent"/>
          <p:cNvSpPr txBox="1"/>
          <p:nvPr/>
        </p:nvSpPr>
        <p:spPr>
          <a:xfrm>
            <a:off x="6876288" y="1819656"/>
            <a:ext cx="22037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Multi-Agent Simulation</a:t>
            </a:r>
            <a:endParaRPr lang="en-US" sz="1100" dirty="0"/>
          </a:p>
        </p:txBody>
      </p:sp>
      <p:sp>
        <p:nvSpPr>
          <p:cNvPr id="54" name="node-rqi"/>
          <p:cNvSpPr/>
          <p:nvPr/>
        </p:nvSpPr>
        <p:spPr>
          <a:xfrm>
            <a:off x="6766560" y="2688336"/>
            <a:ext cx="2423160" cy="566928"/>
          </a:xfrm>
          <a:prstGeom prst="rect">
            <a:avLst/>
          </a:prstGeom>
          <a:solidFill>
            <a:srgbClr val="26313F"/>
          </a:solidFill>
          <a:ln w="12700">
            <a:solidFill>
              <a:srgbClr val="26313F"/>
            </a:solidFill>
            <a:prstDash val="solid"/>
          </a:ln>
        </p:spPr>
      </p:sp>
      <p:sp>
        <p:nvSpPr>
          <p:cNvPr id="55" name="label-rqi"/>
          <p:cNvSpPr txBox="1"/>
          <p:nvPr/>
        </p:nvSpPr>
        <p:spPr>
          <a:xfrm>
            <a:off x="6876288" y="2688336"/>
            <a:ext cx="22037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Reconstruction Quality Improvement</a:t>
            </a:r>
            <a:endParaRPr lang="en-US" sz="11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D9E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ArtiFixer · OneFixer</a:t>
            </a:r>
            <a:endParaRPr lang="en-US" sz="1100" dirty="0"/>
          </a:p>
        </p:txBody>
      </p:sp>
      <p:sp>
        <p:nvSpPr>
          <p:cNvPr id="56" name="node-gcomp"/>
          <p:cNvSpPr/>
          <p:nvPr/>
        </p:nvSpPr>
        <p:spPr>
          <a:xfrm>
            <a:off x="6766560" y="3611880"/>
            <a:ext cx="2423160" cy="457200"/>
          </a:xfrm>
          <a:prstGeom prst="rect">
            <a:avLst/>
          </a:prstGeom>
          <a:solidFill>
            <a:srgbClr val="26313F"/>
          </a:solidFill>
          <a:ln w="12700">
            <a:solidFill>
              <a:srgbClr val="26313F"/>
            </a:solidFill>
            <a:prstDash val="solid"/>
          </a:ln>
        </p:spPr>
      </p:sp>
      <p:sp>
        <p:nvSpPr>
          <p:cNvPr id="57" name="label-gcomp"/>
          <p:cNvSpPr txBox="1"/>
          <p:nvPr/>
        </p:nvSpPr>
        <p:spPr>
          <a:xfrm>
            <a:off x="6876288" y="3611880"/>
            <a:ext cx="22037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Gaussian Compression</a:t>
            </a:r>
            <a:endParaRPr lang="en-US" sz="1100" dirty="0"/>
          </a:p>
        </p:txBody>
      </p:sp>
      <p:sp>
        <p:nvSpPr>
          <p:cNvPr id="58" name="node-sensorplat"/>
          <p:cNvSpPr/>
          <p:nvPr/>
        </p:nvSpPr>
        <p:spPr>
          <a:xfrm>
            <a:off x="6766560" y="4407408"/>
            <a:ext cx="2423160" cy="603504"/>
          </a:xfrm>
          <a:prstGeom prst="rect">
            <a:avLst/>
          </a:prstGeom>
          <a:solidFill>
            <a:srgbClr val="26313F"/>
          </a:solidFill>
          <a:ln w="12700">
            <a:solidFill>
              <a:srgbClr val="26313F"/>
            </a:solidFill>
            <a:prstDash val="solid"/>
          </a:ln>
        </p:spPr>
      </p:sp>
      <p:sp>
        <p:nvSpPr>
          <p:cNvPr id="59" name="label-sensorplat"/>
          <p:cNvSpPr txBox="1"/>
          <p:nvPr/>
        </p:nvSpPr>
        <p:spPr>
          <a:xfrm>
            <a:off x="6876288" y="4407408"/>
            <a:ext cx="22037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Sensor Integration Platform</a:t>
            </a:r>
            <a:endParaRPr lang="en-US" sz="11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D9E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NVIDIA · NCore · NuRec · AlpaSim</a:t>
            </a:r>
            <a:endParaRPr lang="en-US" sz="1100" dirty="0"/>
          </a:p>
        </p:txBody>
      </p:sp>
      <p:sp>
        <p:nvSpPr>
          <p:cNvPr id="60" name="node-wm"/>
          <p:cNvSpPr/>
          <p:nvPr/>
        </p:nvSpPr>
        <p:spPr>
          <a:xfrm>
            <a:off x="9692640" y="1828800"/>
            <a:ext cx="2148840" cy="1097280"/>
          </a:xfrm>
          <a:prstGeom prst="rect">
            <a:avLst/>
          </a:prstGeom>
          <a:solidFill>
            <a:srgbClr val="4B2A7B"/>
          </a:solidFill>
          <a:ln w="12700">
            <a:solidFill>
              <a:srgbClr val="4B2A7B"/>
            </a:solidFill>
            <a:prstDash val="solid"/>
          </a:ln>
        </p:spPr>
      </p:sp>
      <p:sp>
        <p:nvSpPr>
          <p:cNvPr id="61" name="label-wm"/>
          <p:cNvSpPr txBox="1"/>
          <p:nvPr/>
        </p:nvSpPr>
        <p:spPr>
          <a:xfrm>
            <a:off x="9802368" y="1828800"/>
            <a:ext cx="192938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World Model</a:t>
            </a:r>
            <a:endParaRPr lang="en-US" sz="140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E4DA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Conditional Generation</a:t>
            </a:r>
            <a:endParaRPr lang="en-US" sz="140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E4DA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Cosmos-Transfer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201168"/>
            <a:ext cx="6949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E2E 자율주행 Simulation Pipeline · 전체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320040" y="566928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연구 세션(RQ1–RQ5) → 해결 과제 → 핵심 기술 모듈 → World Model   |   참고자료: GAIA-4 (Wayve)</a:t>
            </a:r>
            <a:endParaRPr lang="en-US" sz="1100" dirty="0"/>
          </a:p>
        </p:txBody>
      </p:sp>
      <p:sp>
        <p:nvSpPr>
          <p:cNvPr id="4" name="edge-0"/>
          <p:cNvSpPr/>
          <p:nvPr/>
        </p:nvSpPr>
        <p:spPr>
          <a:xfrm>
            <a:off x="7406640" y="457200"/>
            <a:ext cx="365760" cy="0"/>
          </a:xfrm>
          <a:prstGeom prst="line">
            <a:avLst/>
          </a:prstGeom>
          <a:noFill/>
          <a:ln w="12700">
            <a:solidFill>
              <a:srgbClr val="9AA3A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845552" y="347472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계층 구조</a:t>
            </a:r>
            <a:endParaRPr lang="en-US" sz="900" dirty="0"/>
          </a:p>
        </p:txBody>
      </p:sp>
      <p:sp>
        <p:nvSpPr>
          <p:cNvPr id="6" name="edge-1"/>
          <p:cNvSpPr/>
          <p:nvPr/>
        </p:nvSpPr>
        <p:spPr>
          <a:xfrm>
            <a:off x="8549640" y="457200"/>
            <a:ext cx="365760" cy="0"/>
          </a:xfrm>
          <a:prstGeom prst="line">
            <a:avLst/>
          </a:prstGeom>
          <a:noFill/>
          <a:ln w="15875">
            <a:solidFill>
              <a:srgbClr val="334155"/>
            </a:solidFill>
            <a:prstDash val="solid"/>
            <a:tailEnd type="triangle"/>
          </a:ln>
        </p:spPr>
      </p:sp>
      <p:sp>
        <p:nvSpPr>
          <p:cNvPr id="7" name="Text 5"/>
          <p:cNvSpPr txBox="1"/>
          <p:nvPr/>
        </p:nvSpPr>
        <p:spPr>
          <a:xfrm>
            <a:off x="8988552" y="347472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기술 연결</a:t>
            </a:r>
            <a:endParaRPr lang="en-US" sz="900" dirty="0"/>
          </a:p>
        </p:txBody>
      </p:sp>
      <p:sp>
        <p:nvSpPr>
          <p:cNvPr id="8" name="edge-2"/>
          <p:cNvSpPr/>
          <p:nvPr/>
        </p:nvSpPr>
        <p:spPr>
          <a:xfrm>
            <a:off x="9784080" y="457200"/>
            <a:ext cx="365760" cy="0"/>
          </a:xfrm>
          <a:prstGeom prst="line">
            <a:avLst/>
          </a:prstGeom>
          <a:noFill/>
          <a:ln w="15875">
            <a:solidFill>
              <a:srgbClr val="C2410C"/>
            </a:solidFill>
            <a:prstDash val="dash"/>
            <a:tailEnd type="triangle"/>
          </a:ln>
        </p:spPr>
      </p:sp>
      <p:sp>
        <p:nvSpPr>
          <p:cNvPr id="9" name="Text 7"/>
          <p:cNvSpPr txBox="1"/>
          <p:nvPr/>
        </p:nvSpPr>
        <p:spPr>
          <a:xfrm>
            <a:off x="10222992" y="347472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제안 연결 (원본에 없음)</a:t>
            </a:r>
            <a:endParaRPr lang="en-US" sz="900" dirty="0"/>
          </a:p>
        </p:txBody>
      </p:sp>
      <p:sp>
        <p:nvSpPr>
          <p:cNvPr id="10" name="band-s_ol"/>
          <p:cNvSpPr/>
          <p:nvPr/>
        </p:nvSpPr>
        <p:spPr>
          <a:xfrm>
            <a:off x="1463040" y="896112"/>
            <a:ext cx="10469880" cy="914400"/>
          </a:xfrm>
          <a:prstGeom prst="rect">
            <a:avLst/>
          </a:prstGeom>
          <a:solidFill>
            <a:srgbClr val="0E7C66">
              <a:alpha val="7000"/>
            </a:srgbClr>
          </a:solidFill>
          <a:ln/>
        </p:spPr>
      </p:sp>
      <p:sp>
        <p:nvSpPr>
          <p:cNvPr id="11" name="band-s_cl"/>
          <p:cNvSpPr/>
          <p:nvPr/>
        </p:nvSpPr>
        <p:spPr>
          <a:xfrm>
            <a:off x="1463040" y="1883664"/>
            <a:ext cx="10469880" cy="914400"/>
          </a:xfrm>
          <a:prstGeom prst="rect">
            <a:avLst/>
          </a:prstGeom>
          <a:solidFill>
            <a:srgbClr val="4F46B8">
              <a:alpha val="7000"/>
            </a:srgbClr>
          </a:solidFill>
          <a:ln/>
        </p:spPr>
      </p:sp>
      <p:sp>
        <p:nvSpPr>
          <p:cNvPr id="12" name="band-s_req"/>
          <p:cNvSpPr/>
          <p:nvPr/>
        </p:nvSpPr>
        <p:spPr>
          <a:xfrm>
            <a:off x="1463040" y="2871216"/>
            <a:ext cx="10469880" cy="1920240"/>
          </a:xfrm>
          <a:prstGeom prst="rect">
            <a:avLst/>
          </a:prstGeom>
          <a:solidFill>
            <a:srgbClr val="B4581A">
              <a:alpha val="7000"/>
            </a:srgbClr>
          </a:solidFill>
          <a:ln/>
        </p:spPr>
      </p:sp>
      <p:sp>
        <p:nvSpPr>
          <p:cNvPr id="13" name="band-s_eval"/>
          <p:cNvSpPr/>
          <p:nvPr/>
        </p:nvSpPr>
        <p:spPr>
          <a:xfrm>
            <a:off x="1463040" y="4864608"/>
            <a:ext cx="10469880" cy="731520"/>
          </a:xfrm>
          <a:prstGeom prst="rect">
            <a:avLst/>
          </a:prstGeom>
          <a:solidFill>
            <a:srgbClr val="B3264A">
              <a:alpha val="7000"/>
            </a:srgbClr>
          </a:solidFill>
          <a:ln/>
        </p:spPr>
      </p:sp>
      <p:sp>
        <p:nvSpPr>
          <p:cNvPr id="14" name="band-s_aug"/>
          <p:cNvSpPr/>
          <p:nvPr/>
        </p:nvSpPr>
        <p:spPr>
          <a:xfrm>
            <a:off x="1463040" y="5669280"/>
            <a:ext cx="10469880" cy="914400"/>
          </a:xfrm>
          <a:prstGeom prst="rect">
            <a:avLst/>
          </a:prstGeom>
          <a:solidFill>
            <a:srgbClr val="3C7A1E">
              <a:alpha val="7000"/>
            </a:srgbClr>
          </a:solidFill>
          <a:ln/>
        </p:spPr>
      </p:sp>
      <p:sp>
        <p:nvSpPr>
          <p:cNvPr id="15" name="edge-3"/>
          <p:cNvSpPr/>
          <p:nvPr/>
        </p:nvSpPr>
        <p:spPr>
          <a:xfrm>
            <a:off x="1371600" y="3739896"/>
            <a:ext cx="91440" cy="0"/>
          </a:xfrm>
          <a:prstGeom prst="line">
            <a:avLst/>
          </a:prstGeom>
          <a:noFill/>
          <a:ln w="12700">
            <a:solidFill>
              <a:srgbClr val="9AA3AE"/>
            </a:solidFill>
            <a:prstDash val="solid"/>
          </a:ln>
        </p:spPr>
      </p:sp>
      <p:sp>
        <p:nvSpPr>
          <p:cNvPr id="16" name="edge-4"/>
          <p:cNvSpPr/>
          <p:nvPr/>
        </p:nvSpPr>
        <p:spPr>
          <a:xfrm>
            <a:off x="1463040" y="1353312"/>
            <a:ext cx="0" cy="4773168"/>
          </a:xfrm>
          <a:prstGeom prst="line">
            <a:avLst/>
          </a:prstGeom>
          <a:noFill/>
          <a:ln w="12700">
            <a:solidFill>
              <a:srgbClr val="9AA3AE"/>
            </a:solidFill>
            <a:prstDash val="solid"/>
          </a:ln>
        </p:spPr>
      </p:sp>
      <p:sp>
        <p:nvSpPr>
          <p:cNvPr id="17" name="edge-5"/>
          <p:cNvSpPr/>
          <p:nvPr/>
        </p:nvSpPr>
        <p:spPr>
          <a:xfrm>
            <a:off x="1463040" y="1353312"/>
            <a:ext cx="109728" cy="0"/>
          </a:xfrm>
          <a:prstGeom prst="line">
            <a:avLst/>
          </a:prstGeom>
          <a:noFill/>
          <a:ln w="12700">
            <a:solidFill>
              <a:srgbClr val="9AA3AE"/>
            </a:solidFill>
            <a:prstDash val="solid"/>
          </a:ln>
        </p:spPr>
      </p:sp>
      <p:sp>
        <p:nvSpPr>
          <p:cNvPr id="18" name="edge-6"/>
          <p:cNvSpPr/>
          <p:nvPr/>
        </p:nvSpPr>
        <p:spPr>
          <a:xfrm>
            <a:off x="1463040" y="2340864"/>
            <a:ext cx="109728" cy="0"/>
          </a:xfrm>
          <a:prstGeom prst="line">
            <a:avLst/>
          </a:prstGeom>
          <a:noFill/>
          <a:ln w="12700">
            <a:solidFill>
              <a:srgbClr val="9AA3AE"/>
            </a:solidFill>
            <a:prstDash val="solid"/>
          </a:ln>
        </p:spPr>
      </p:sp>
      <p:sp>
        <p:nvSpPr>
          <p:cNvPr id="19" name="edge-7"/>
          <p:cNvSpPr/>
          <p:nvPr/>
        </p:nvSpPr>
        <p:spPr>
          <a:xfrm>
            <a:off x="1463040" y="3831336"/>
            <a:ext cx="109728" cy="0"/>
          </a:xfrm>
          <a:prstGeom prst="line">
            <a:avLst/>
          </a:prstGeom>
          <a:noFill/>
          <a:ln w="12700">
            <a:solidFill>
              <a:srgbClr val="9AA3AE"/>
            </a:solidFill>
            <a:prstDash val="solid"/>
          </a:ln>
        </p:spPr>
      </p:sp>
      <p:sp>
        <p:nvSpPr>
          <p:cNvPr id="20" name="edge-8"/>
          <p:cNvSpPr/>
          <p:nvPr/>
        </p:nvSpPr>
        <p:spPr>
          <a:xfrm>
            <a:off x="1463040" y="5230368"/>
            <a:ext cx="109728" cy="0"/>
          </a:xfrm>
          <a:prstGeom prst="line">
            <a:avLst/>
          </a:prstGeom>
          <a:noFill/>
          <a:ln w="12700">
            <a:solidFill>
              <a:srgbClr val="9AA3AE"/>
            </a:solidFill>
            <a:prstDash val="solid"/>
          </a:ln>
        </p:spPr>
      </p:sp>
      <p:sp>
        <p:nvSpPr>
          <p:cNvPr id="21" name="edge-9"/>
          <p:cNvSpPr/>
          <p:nvPr/>
        </p:nvSpPr>
        <p:spPr>
          <a:xfrm>
            <a:off x="1463040" y="6126480"/>
            <a:ext cx="109728" cy="0"/>
          </a:xfrm>
          <a:prstGeom prst="line">
            <a:avLst/>
          </a:prstGeom>
          <a:noFill/>
          <a:ln w="12700">
            <a:solidFill>
              <a:srgbClr val="9AA3AE"/>
            </a:solidFill>
            <a:prstDash val="solid"/>
          </a:ln>
        </p:spPr>
      </p:sp>
      <p:sp>
        <p:nvSpPr>
          <p:cNvPr id="22" name="edge-10"/>
          <p:cNvSpPr/>
          <p:nvPr/>
        </p:nvSpPr>
        <p:spPr>
          <a:xfrm>
            <a:off x="3310128" y="1353312"/>
            <a:ext cx="128016" cy="0"/>
          </a:xfrm>
          <a:prstGeom prst="line">
            <a:avLst/>
          </a:prstGeom>
          <a:noFill/>
          <a:ln w="12700">
            <a:solidFill>
              <a:srgbClr val="9AA3AE"/>
            </a:solidFill>
            <a:prstDash val="solid"/>
          </a:ln>
        </p:spPr>
      </p:sp>
      <p:sp>
        <p:nvSpPr>
          <p:cNvPr id="23" name="edge-11"/>
          <p:cNvSpPr/>
          <p:nvPr/>
        </p:nvSpPr>
        <p:spPr>
          <a:xfrm>
            <a:off x="3438144" y="1353312"/>
            <a:ext cx="0" cy="0"/>
          </a:xfrm>
          <a:prstGeom prst="line">
            <a:avLst/>
          </a:prstGeom>
          <a:noFill/>
          <a:ln w="12700">
            <a:solidFill>
              <a:srgbClr val="9AA3AE"/>
            </a:solidFill>
            <a:prstDash val="solid"/>
          </a:ln>
        </p:spPr>
      </p:sp>
      <p:sp>
        <p:nvSpPr>
          <p:cNvPr id="24" name="edge-12"/>
          <p:cNvSpPr/>
          <p:nvPr/>
        </p:nvSpPr>
        <p:spPr>
          <a:xfrm>
            <a:off x="3438144" y="1353312"/>
            <a:ext cx="128016" cy="0"/>
          </a:xfrm>
          <a:prstGeom prst="line">
            <a:avLst/>
          </a:prstGeom>
          <a:noFill/>
          <a:ln w="12700">
            <a:solidFill>
              <a:srgbClr val="9AA3AE"/>
            </a:solidFill>
            <a:prstDash val="solid"/>
          </a:ln>
        </p:spPr>
      </p:sp>
      <p:sp>
        <p:nvSpPr>
          <p:cNvPr id="25" name="edge-13"/>
          <p:cNvSpPr/>
          <p:nvPr/>
        </p:nvSpPr>
        <p:spPr>
          <a:xfrm>
            <a:off x="3310128" y="2340864"/>
            <a:ext cx="128016" cy="0"/>
          </a:xfrm>
          <a:prstGeom prst="line">
            <a:avLst/>
          </a:prstGeom>
          <a:noFill/>
          <a:ln w="12700">
            <a:solidFill>
              <a:srgbClr val="9AA3AE"/>
            </a:solidFill>
            <a:prstDash val="solid"/>
          </a:ln>
        </p:spPr>
      </p:sp>
      <p:sp>
        <p:nvSpPr>
          <p:cNvPr id="26" name="edge-14"/>
          <p:cNvSpPr/>
          <p:nvPr/>
        </p:nvSpPr>
        <p:spPr>
          <a:xfrm>
            <a:off x="3438144" y="2112264"/>
            <a:ext cx="0" cy="457200"/>
          </a:xfrm>
          <a:prstGeom prst="line">
            <a:avLst/>
          </a:prstGeom>
          <a:noFill/>
          <a:ln w="12700">
            <a:solidFill>
              <a:srgbClr val="9AA3AE"/>
            </a:solidFill>
            <a:prstDash val="solid"/>
          </a:ln>
        </p:spPr>
      </p:sp>
      <p:sp>
        <p:nvSpPr>
          <p:cNvPr id="27" name="edge-15"/>
          <p:cNvSpPr/>
          <p:nvPr/>
        </p:nvSpPr>
        <p:spPr>
          <a:xfrm>
            <a:off x="3438144" y="2112264"/>
            <a:ext cx="128016" cy="0"/>
          </a:xfrm>
          <a:prstGeom prst="line">
            <a:avLst/>
          </a:prstGeom>
          <a:noFill/>
          <a:ln w="12700">
            <a:solidFill>
              <a:srgbClr val="9AA3AE"/>
            </a:solidFill>
            <a:prstDash val="solid"/>
          </a:ln>
        </p:spPr>
      </p:sp>
      <p:sp>
        <p:nvSpPr>
          <p:cNvPr id="28" name="edge-16"/>
          <p:cNvSpPr/>
          <p:nvPr/>
        </p:nvSpPr>
        <p:spPr>
          <a:xfrm>
            <a:off x="3438144" y="2569464"/>
            <a:ext cx="128016" cy="0"/>
          </a:xfrm>
          <a:prstGeom prst="line">
            <a:avLst/>
          </a:prstGeom>
          <a:noFill/>
          <a:ln w="12700">
            <a:solidFill>
              <a:srgbClr val="9AA3AE"/>
            </a:solidFill>
            <a:prstDash val="solid"/>
          </a:ln>
        </p:spPr>
      </p:sp>
      <p:sp>
        <p:nvSpPr>
          <p:cNvPr id="29" name="edge-17"/>
          <p:cNvSpPr/>
          <p:nvPr/>
        </p:nvSpPr>
        <p:spPr>
          <a:xfrm>
            <a:off x="3310128" y="3831336"/>
            <a:ext cx="128016" cy="0"/>
          </a:xfrm>
          <a:prstGeom prst="line">
            <a:avLst/>
          </a:prstGeom>
          <a:noFill/>
          <a:ln w="12700">
            <a:solidFill>
              <a:srgbClr val="9AA3AE"/>
            </a:solidFill>
            <a:prstDash val="solid"/>
          </a:ln>
        </p:spPr>
      </p:sp>
      <p:sp>
        <p:nvSpPr>
          <p:cNvPr id="30" name="edge-18"/>
          <p:cNvSpPr/>
          <p:nvPr/>
        </p:nvSpPr>
        <p:spPr>
          <a:xfrm>
            <a:off x="3438144" y="3054096"/>
            <a:ext cx="0" cy="1554480"/>
          </a:xfrm>
          <a:prstGeom prst="line">
            <a:avLst/>
          </a:prstGeom>
          <a:noFill/>
          <a:ln w="12700">
            <a:solidFill>
              <a:srgbClr val="9AA3AE"/>
            </a:solidFill>
            <a:prstDash val="solid"/>
          </a:ln>
        </p:spPr>
      </p:sp>
      <p:sp>
        <p:nvSpPr>
          <p:cNvPr id="31" name="edge-19"/>
          <p:cNvSpPr/>
          <p:nvPr/>
        </p:nvSpPr>
        <p:spPr>
          <a:xfrm>
            <a:off x="3438144" y="3054096"/>
            <a:ext cx="128016" cy="0"/>
          </a:xfrm>
          <a:prstGeom prst="line">
            <a:avLst/>
          </a:prstGeom>
          <a:noFill/>
          <a:ln w="12700">
            <a:solidFill>
              <a:srgbClr val="9AA3AE"/>
            </a:solidFill>
            <a:prstDash val="solid"/>
          </a:ln>
        </p:spPr>
      </p:sp>
      <p:sp>
        <p:nvSpPr>
          <p:cNvPr id="32" name="edge-20"/>
          <p:cNvSpPr/>
          <p:nvPr/>
        </p:nvSpPr>
        <p:spPr>
          <a:xfrm>
            <a:off x="3438144" y="3364992"/>
            <a:ext cx="128016" cy="0"/>
          </a:xfrm>
          <a:prstGeom prst="line">
            <a:avLst/>
          </a:prstGeom>
          <a:noFill/>
          <a:ln w="12700">
            <a:solidFill>
              <a:srgbClr val="9AA3AE"/>
            </a:solidFill>
            <a:prstDash val="solid"/>
          </a:ln>
        </p:spPr>
      </p:sp>
      <p:sp>
        <p:nvSpPr>
          <p:cNvPr id="33" name="edge-21"/>
          <p:cNvSpPr/>
          <p:nvPr/>
        </p:nvSpPr>
        <p:spPr>
          <a:xfrm>
            <a:off x="3438144" y="3675888"/>
            <a:ext cx="128016" cy="0"/>
          </a:xfrm>
          <a:prstGeom prst="line">
            <a:avLst/>
          </a:prstGeom>
          <a:noFill/>
          <a:ln w="12700">
            <a:solidFill>
              <a:srgbClr val="9AA3AE"/>
            </a:solidFill>
            <a:prstDash val="solid"/>
          </a:ln>
        </p:spPr>
      </p:sp>
      <p:sp>
        <p:nvSpPr>
          <p:cNvPr id="34" name="edge-22"/>
          <p:cNvSpPr/>
          <p:nvPr/>
        </p:nvSpPr>
        <p:spPr>
          <a:xfrm>
            <a:off x="3438144" y="3986784"/>
            <a:ext cx="128016" cy="0"/>
          </a:xfrm>
          <a:prstGeom prst="line">
            <a:avLst/>
          </a:prstGeom>
          <a:noFill/>
          <a:ln w="12700">
            <a:solidFill>
              <a:srgbClr val="9AA3AE"/>
            </a:solidFill>
            <a:prstDash val="solid"/>
          </a:ln>
        </p:spPr>
      </p:sp>
      <p:sp>
        <p:nvSpPr>
          <p:cNvPr id="35" name="edge-23"/>
          <p:cNvSpPr/>
          <p:nvPr/>
        </p:nvSpPr>
        <p:spPr>
          <a:xfrm>
            <a:off x="3438144" y="4297680"/>
            <a:ext cx="128016" cy="0"/>
          </a:xfrm>
          <a:prstGeom prst="line">
            <a:avLst/>
          </a:prstGeom>
          <a:noFill/>
          <a:ln w="12700">
            <a:solidFill>
              <a:srgbClr val="9AA3AE"/>
            </a:solidFill>
            <a:prstDash val="solid"/>
          </a:ln>
        </p:spPr>
      </p:sp>
      <p:sp>
        <p:nvSpPr>
          <p:cNvPr id="36" name="edge-24"/>
          <p:cNvSpPr/>
          <p:nvPr/>
        </p:nvSpPr>
        <p:spPr>
          <a:xfrm>
            <a:off x="3438144" y="4608576"/>
            <a:ext cx="128016" cy="0"/>
          </a:xfrm>
          <a:prstGeom prst="line">
            <a:avLst/>
          </a:prstGeom>
          <a:noFill/>
          <a:ln w="12700">
            <a:solidFill>
              <a:srgbClr val="9AA3AE"/>
            </a:solidFill>
            <a:prstDash val="solid"/>
          </a:ln>
        </p:spPr>
      </p:sp>
      <p:sp>
        <p:nvSpPr>
          <p:cNvPr id="37" name="edge-25"/>
          <p:cNvSpPr/>
          <p:nvPr/>
        </p:nvSpPr>
        <p:spPr>
          <a:xfrm>
            <a:off x="3310128" y="5230368"/>
            <a:ext cx="128016" cy="0"/>
          </a:xfrm>
          <a:prstGeom prst="line">
            <a:avLst/>
          </a:prstGeom>
          <a:noFill/>
          <a:ln w="12700">
            <a:solidFill>
              <a:srgbClr val="9AA3AE"/>
            </a:solidFill>
            <a:prstDash val="solid"/>
          </a:ln>
        </p:spPr>
      </p:sp>
      <p:sp>
        <p:nvSpPr>
          <p:cNvPr id="38" name="edge-26"/>
          <p:cNvSpPr/>
          <p:nvPr/>
        </p:nvSpPr>
        <p:spPr>
          <a:xfrm>
            <a:off x="3438144" y="5230368"/>
            <a:ext cx="0" cy="0"/>
          </a:xfrm>
          <a:prstGeom prst="line">
            <a:avLst/>
          </a:prstGeom>
          <a:noFill/>
          <a:ln w="12700">
            <a:solidFill>
              <a:srgbClr val="9AA3AE"/>
            </a:solidFill>
            <a:prstDash val="solid"/>
          </a:ln>
        </p:spPr>
      </p:sp>
      <p:sp>
        <p:nvSpPr>
          <p:cNvPr id="39" name="edge-27"/>
          <p:cNvSpPr/>
          <p:nvPr/>
        </p:nvSpPr>
        <p:spPr>
          <a:xfrm>
            <a:off x="3438144" y="5230368"/>
            <a:ext cx="128016" cy="0"/>
          </a:xfrm>
          <a:prstGeom prst="line">
            <a:avLst/>
          </a:prstGeom>
          <a:noFill/>
          <a:ln w="12700">
            <a:solidFill>
              <a:srgbClr val="9AA3AE"/>
            </a:solidFill>
            <a:prstDash val="solid"/>
          </a:ln>
        </p:spPr>
      </p:sp>
      <p:sp>
        <p:nvSpPr>
          <p:cNvPr id="40" name="edge-28"/>
          <p:cNvSpPr/>
          <p:nvPr/>
        </p:nvSpPr>
        <p:spPr>
          <a:xfrm>
            <a:off x="3310128" y="6126480"/>
            <a:ext cx="128016" cy="0"/>
          </a:xfrm>
          <a:prstGeom prst="line">
            <a:avLst/>
          </a:prstGeom>
          <a:noFill/>
          <a:ln w="12700">
            <a:solidFill>
              <a:srgbClr val="9AA3AE"/>
            </a:solidFill>
            <a:prstDash val="solid"/>
          </a:ln>
        </p:spPr>
      </p:sp>
      <p:sp>
        <p:nvSpPr>
          <p:cNvPr id="41" name="edge-29"/>
          <p:cNvSpPr/>
          <p:nvPr/>
        </p:nvSpPr>
        <p:spPr>
          <a:xfrm>
            <a:off x="3438144" y="5897880"/>
            <a:ext cx="0" cy="457200"/>
          </a:xfrm>
          <a:prstGeom prst="line">
            <a:avLst/>
          </a:prstGeom>
          <a:noFill/>
          <a:ln w="12700">
            <a:solidFill>
              <a:srgbClr val="9AA3AE"/>
            </a:solidFill>
            <a:prstDash val="solid"/>
          </a:ln>
        </p:spPr>
      </p:sp>
      <p:sp>
        <p:nvSpPr>
          <p:cNvPr id="42" name="edge-30"/>
          <p:cNvSpPr/>
          <p:nvPr/>
        </p:nvSpPr>
        <p:spPr>
          <a:xfrm>
            <a:off x="3438144" y="5897880"/>
            <a:ext cx="128016" cy="0"/>
          </a:xfrm>
          <a:prstGeom prst="line">
            <a:avLst/>
          </a:prstGeom>
          <a:noFill/>
          <a:ln w="12700">
            <a:solidFill>
              <a:srgbClr val="9AA3AE"/>
            </a:solidFill>
            <a:prstDash val="solid"/>
          </a:ln>
        </p:spPr>
      </p:sp>
      <p:sp>
        <p:nvSpPr>
          <p:cNvPr id="43" name="edge-31"/>
          <p:cNvSpPr/>
          <p:nvPr/>
        </p:nvSpPr>
        <p:spPr>
          <a:xfrm>
            <a:off x="3438144" y="6355080"/>
            <a:ext cx="128016" cy="0"/>
          </a:xfrm>
          <a:prstGeom prst="line">
            <a:avLst/>
          </a:prstGeom>
          <a:noFill/>
          <a:ln w="12700">
            <a:solidFill>
              <a:srgbClr val="9AA3AE"/>
            </a:solidFill>
            <a:prstDash val="solid"/>
          </a:ln>
        </p:spPr>
      </p:sp>
      <p:sp>
        <p:nvSpPr>
          <p:cNvPr id="44" name="edge-32"/>
          <p:cNvSpPr/>
          <p:nvPr/>
        </p:nvSpPr>
        <p:spPr>
          <a:xfrm>
            <a:off x="5760720" y="1353312"/>
            <a:ext cx="118872" cy="0"/>
          </a:xfrm>
          <a:prstGeom prst="line">
            <a:avLst/>
          </a:prstGeom>
          <a:noFill/>
          <a:ln w="12700">
            <a:solidFill>
              <a:srgbClr val="9AA3AE"/>
            </a:solidFill>
            <a:prstDash val="solid"/>
          </a:ln>
        </p:spPr>
      </p:sp>
      <p:sp>
        <p:nvSpPr>
          <p:cNvPr id="45" name="edge-33"/>
          <p:cNvSpPr/>
          <p:nvPr/>
        </p:nvSpPr>
        <p:spPr>
          <a:xfrm>
            <a:off x="5879592" y="1143000"/>
            <a:ext cx="0" cy="420624"/>
          </a:xfrm>
          <a:prstGeom prst="line">
            <a:avLst/>
          </a:prstGeom>
          <a:noFill/>
          <a:ln w="12700">
            <a:solidFill>
              <a:srgbClr val="9AA3AE"/>
            </a:solidFill>
            <a:prstDash val="solid"/>
          </a:ln>
        </p:spPr>
      </p:sp>
      <p:sp>
        <p:nvSpPr>
          <p:cNvPr id="46" name="edge-34"/>
          <p:cNvSpPr/>
          <p:nvPr/>
        </p:nvSpPr>
        <p:spPr>
          <a:xfrm>
            <a:off x="5879592" y="1143000"/>
            <a:ext cx="109728" cy="0"/>
          </a:xfrm>
          <a:prstGeom prst="line">
            <a:avLst/>
          </a:prstGeom>
          <a:noFill/>
          <a:ln w="12700">
            <a:solidFill>
              <a:srgbClr val="9AA3AE"/>
            </a:solidFill>
            <a:prstDash val="solid"/>
          </a:ln>
        </p:spPr>
      </p:sp>
      <p:sp>
        <p:nvSpPr>
          <p:cNvPr id="47" name="edge-35"/>
          <p:cNvSpPr/>
          <p:nvPr/>
        </p:nvSpPr>
        <p:spPr>
          <a:xfrm>
            <a:off x="5879592" y="1563624"/>
            <a:ext cx="109728" cy="0"/>
          </a:xfrm>
          <a:prstGeom prst="line">
            <a:avLst/>
          </a:prstGeom>
          <a:noFill/>
          <a:ln w="12700">
            <a:solidFill>
              <a:srgbClr val="9AA3AE"/>
            </a:solidFill>
            <a:prstDash val="solid"/>
          </a:ln>
        </p:spPr>
      </p:sp>
      <p:sp>
        <p:nvSpPr>
          <p:cNvPr id="48" name="edge-36"/>
          <p:cNvSpPr/>
          <p:nvPr/>
        </p:nvSpPr>
        <p:spPr>
          <a:xfrm>
            <a:off x="7040880" y="1143000"/>
            <a:ext cx="246888" cy="0"/>
          </a:xfrm>
          <a:prstGeom prst="line">
            <a:avLst/>
          </a:prstGeom>
          <a:noFill/>
          <a:ln w="15875">
            <a:solidFill>
              <a:srgbClr val="334155"/>
            </a:solidFill>
            <a:prstDash val="solid"/>
          </a:ln>
        </p:spPr>
      </p:sp>
      <p:sp>
        <p:nvSpPr>
          <p:cNvPr id="49" name="edge-37"/>
          <p:cNvSpPr/>
          <p:nvPr/>
        </p:nvSpPr>
        <p:spPr>
          <a:xfrm>
            <a:off x="7040880" y="1563624"/>
            <a:ext cx="246888" cy="0"/>
          </a:xfrm>
          <a:prstGeom prst="line">
            <a:avLst/>
          </a:prstGeom>
          <a:noFill/>
          <a:ln w="15875">
            <a:solidFill>
              <a:srgbClr val="334155"/>
            </a:solidFill>
            <a:prstDash val="solid"/>
          </a:ln>
        </p:spPr>
      </p:sp>
      <p:sp>
        <p:nvSpPr>
          <p:cNvPr id="50" name="edge-38"/>
          <p:cNvSpPr/>
          <p:nvPr/>
        </p:nvSpPr>
        <p:spPr>
          <a:xfrm>
            <a:off x="7287768" y="1143000"/>
            <a:ext cx="0" cy="1426464"/>
          </a:xfrm>
          <a:prstGeom prst="line">
            <a:avLst/>
          </a:prstGeom>
          <a:noFill/>
          <a:ln w="15875">
            <a:solidFill>
              <a:srgbClr val="334155"/>
            </a:solidFill>
            <a:prstDash val="solid"/>
          </a:ln>
        </p:spPr>
      </p:sp>
      <p:sp>
        <p:nvSpPr>
          <p:cNvPr id="51" name="edge-39"/>
          <p:cNvSpPr/>
          <p:nvPr/>
        </p:nvSpPr>
        <p:spPr>
          <a:xfrm>
            <a:off x="7287768" y="1353312"/>
            <a:ext cx="256032" cy="0"/>
          </a:xfrm>
          <a:prstGeom prst="line">
            <a:avLst/>
          </a:prstGeom>
          <a:noFill/>
          <a:ln w="15875">
            <a:solidFill>
              <a:srgbClr val="334155"/>
            </a:solidFill>
            <a:prstDash val="solid"/>
            <a:tailEnd type="triangle"/>
          </a:ln>
        </p:spPr>
      </p:sp>
      <p:sp>
        <p:nvSpPr>
          <p:cNvPr id="52" name="edge-40"/>
          <p:cNvSpPr/>
          <p:nvPr/>
        </p:nvSpPr>
        <p:spPr>
          <a:xfrm>
            <a:off x="5760720" y="2112264"/>
            <a:ext cx="1783080" cy="0"/>
          </a:xfrm>
          <a:prstGeom prst="line">
            <a:avLst/>
          </a:prstGeom>
          <a:noFill/>
          <a:ln w="15875">
            <a:solidFill>
              <a:srgbClr val="334155"/>
            </a:solidFill>
            <a:prstDash val="solid"/>
            <a:tailEnd type="triangle"/>
          </a:ln>
        </p:spPr>
      </p:sp>
      <p:sp>
        <p:nvSpPr>
          <p:cNvPr id="53" name="edge-41"/>
          <p:cNvSpPr/>
          <p:nvPr/>
        </p:nvSpPr>
        <p:spPr>
          <a:xfrm>
            <a:off x="5760720" y="2569464"/>
            <a:ext cx="1783080" cy="0"/>
          </a:xfrm>
          <a:prstGeom prst="line">
            <a:avLst/>
          </a:prstGeom>
          <a:noFill/>
          <a:ln w="15875">
            <a:solidFill>
              <a:srgbClr val="334155"/>
            </a:solidFill>
            <a:prstDash val="solid"/>
            <a:tailEnd type="triangle"/>
          </a:ln>
        </p:spPr>
      </p:sp>
      <p:sp>
        <p:nvSpPr>
          <p:cNvPr id="54" name="edge-42"/>
          <p:cNvSpPr/>
          <p:nvPr/>
        </p:nvSpPr>
        <p:spPr>
          <a:xfrm>
            <a:off x="5760720" y="3986784"/>
            <a:ext cx="822960" cy="0"/>
          </a:xfrm>
          <a:prstGeom prst="line">
            <a:avLst/>
          </a:prstGeom>
          <a:noFill/>
          <a:ln w="15875">
            <a:solidFill>
              <a:srgbClr val="334155"/>
            </a:solidFill>
            <a:prstDash val="solid"/>
          </a:ln>
        </p:spPr>
      </p:sp>
      <p:sp>
        <p:nvSpPr>
          <p:cNvPr id="55" name="edge-43"/>
          <p:cNvSpPr/>
          <p:nvPr/>
        </p:nvSpPr>
        <p:spPr>
          <a:xfrm flipV="1">
            <a:off x="6583680" y="2569464"/>
            <a:ext cx="0" cy="1417320"/>
          </a:xfrm>
          <a:prstGeom prst="line">
            <a:avLst/>
          </a:prstGeom>
          <a:noFill/>
          <a:ln w="15875">
            <a:solidFill>
              <a:srgbClr val="334155"/>
            </a:solidFill>
            <a:prstDash val="solid"/>
          </a:ln>
        </p:spPr>
      </p:sp>
      <p:sp>
        <p:nvSpPr>
          <p:cNvPr id="56" name="edge-44"/>
          <p:cNvSpPr/>
          <p:nvPr/>
        </p:nvSpPr>
        <p:spPr>
          <a:xfrm>
            <a:off x="5760720" y="3054096"/>
            <a:ext cx="1207008" cy="0"/>
          </a:xfrm>
          <a:prstGeom prst="line">
            <a:avLst/>
          </a:prstGeom>
          <a:noFill/>
          <a:ln w="15875">
            <a:solidFill>
              <a:srgbClr val="334155"/>
            </a:solidFill>
            <a:prstDash val="solid"/>
          </a:ln>
        </p:spPr>
      </p:sp>
      <p:sp>
        <p:nvSpPr>
          <p:cNvPr id="57" name="edge-45"/>
          <p:cNvSpPr/>
          <p:nvPr/>
        </p:nvSpPr>
        <p:spPr>
          <a:xfrm>
            <a:off x="5760720" y="4297680"/>
            <a:ext cx="1207008" cy="0"/>
          </a:xfrm>
          <a:prstGeom prst="line">
            <a:avLst/>
          </a:prstGeom>
          <a:noFill/>
          <a:ln w="15875">
            <a:solidFill>
              <a:srgbClr val="334155"/>
            </a:solidFill>
            <a:prstDash val="solid"/>
          </a:ln>
        </p:spPr>
      </p:sp>
      <p:sp>
        <p:nvSpPr>
          <p:cNvPr id="58" name="edge-46"/>
          <p:cNvSpPr/>
          <p:nvPr/>
        </p:nvSpPr>
        <p:spPr>
          <a:xfrm>
            <a:off x="5760720" y="4608576"/>
            <a:ext cx="1207008" cy="0"/>
          </a:xfrm>
          <a:prstGeom prst="line">
            <a:avLst/>
          </a:prstGeom>
          <a:noFill/>
          <a:ln w="15875">
            <a:solidFill>
              <a:srgbClr val="334155"/>
            </a:solidFill>
            <a:prstDash val="solid"/>
          </a:ln>
        </p:spPr>
      </p:sp>
      <p:sp>
        <p:nvSpPr>
          <p:cNvPr id="59" name="edge-47"/>
          <p:cNvSpPr/>
          <p:nvPr/>
        </p:nvSpPr>
        <p:spPr>
          <a:xfrm>
            <a:off x="6967728" y="3054096"/>
            <a:ext cx="0" cy="1554480"/>
          </a:xfrm>
          <a:prstGeom prst="line">
            <a:avLst/>
          </a:prstGeom>
          <a:noFill/>
          <a:ln w="15875">
            <a:solidFill>
              <a:srgbClr val="334155"/>
            </a:solidFill>
            <a:prstDash val="solid"/>
          </a:ln>
        </p:spPr>
      </p:sp>
      <p:sp>
        <p:nvSpPr>
          <p:cNvPr id="60" name="edge-48"/>
          <p:cNvSpPr/>
          <p:nvPr/>
        </p:nvSpPr>
        <p:spPr>
          <a:xfrm>
            <a:off x="6967728" y="4453128"/>
            <a:ext cx="576072" cy="0"/>
          </a:xfrm>
          <a:prstGeom prst="line">
            <a:avLst/>
          </a:prstGeom>
          <a:noFill/>
          <a:ln w="15875">
            <a:solidFill>
              <a:srgbClr val="334155"/>
            </a:solidFill>
            <a:prstDash val="solid"/>
            <a:tailEnd type="triangle"/>
          </a:ln>
        </p:spPr>
      </p:sp>
      <p:sp>
        <p:nvSpPr>
          <p:cNvPr id="61" name="edge-49"/>
          <p:cNvSpPr/>
          <p:nvPr/>
        </p:nvSpPr>
        <p:spPr>
          <a:xfrm>
            <a:off x="9509760" y="2112264"/>
            <a:ext cx="365760" cy="0"/>
          </a:xfrm>
          <a:prstGeom prst="line">
            <a:avLst/>
          </a:prstGeom>
          <a:noFill/>
          <a:ln w="15875">
            <a:solidFill>
              <a:srgbClr val="334155"/>
            </a:solidFill>
            <a:prstDash val="solid"/>
            <a:tailEnd type="triangle"/>
          </a:ln>
        </p:spPr>
      </p:sp>
      <p:sp>
        <p:nvSpPr>
          <p:cNvPr id="62" name="edge-50"/>
          <p:cNvSpPr/>
          <p:nvPr/>
        </p:nvSpPr>
        <p:spPr>
          <a:xfrm>
            <a:off x="5760720" y="5897880"/>
            <a:ext cx="5097780" cy="0"/>
          </a:xfrm>
          <a:prstGeom prst="line">
            <a:avLst/>
          </a:prstGeom>
          <a:noFill/>
          <a:ln w="15875">
            <a:solidFill>
              <a:srgbClr val="334155"/>
            </a:solidFill>
            <a:prstDash val="solid"/>
          </a:ln>
        </p:spPr>
      </p:sp>
      <p:sp>
        <p:nvSpPr>
          <p:cNvPr id="63" name="edge-51"/>
          <p:cNvSpPr/>
          <p:nvPr/>
        </p:nvSpPr>
        <p:spPr>
          <a:xfrm>
            <a:off x="5760720" y="6355080"/>
            <a:ext cx="5097780" cy="0"/>
          </a:xfrm>
          <a:prstGeom prst="line">
            <a:avLst/>
          </a:prstGeom>
          <a:noFill/>
          <a:ln w="15875">
            <a:solidFill>
              <a:srgbClr val="334155"/>
            </a:solidFill>
            <a:prstDash val="solid"/>
          </a:ln>
        </p:spPr>
      </p:sp>
      <p:sp>
        <p:nvSpPr>
          <p:cNvPr id="64" name="edge-52"/>
          <p:cNvSpPr/>
          <p:nvPr/>
        </p:nvSpPr>
        <p:spPr>
          <a:xfrm flipV="1">
            <a:off x="10858500" y="2523744"/>
            <a:ext cx="0" cy="3831336"/>
          </a:xfrm>
          <a:prstGeom prst="line">
            <a:avLst/>
          </a:prstGeom>
          <a:noFill/>
          <a:ln w="15875">
            <a:solidFill>
              <a:srgbClr val="334155"/>
            </a:solidFill>
            <a:prstDash val="solid"/>
            <a:tailEnd type="triangle"/>
          </a:ln>
        </p:spPr>
      </p:sp>
      <p:sp>
        <p:nvSpPr>
          <p:cNvPr id="65" name="edge-53"/>
          <p:cNvSpPr/>
          <p:nvPr/>
        </p:nvSpPr>
        <p:spPr>
          <a:xfrm>
            <a:off x="5760720" y="3675888"/>
            <a:ext cx="1783080" cy="0"/>
          </a:xfrm>
          <a:prstGeom prst="line">
            <a:avLst/>
          </a:prstGeom>
          <a:noFill/>
          <a:ln w="15875">
            <a:solidFill>
              <a:srgbClr val="C2410C"/>
            </a:solidFill>
            <a:prstDash val="dash"/>
            <a:tailEnd type="triangle"/>
          </a:ln>
        </p:spPr>
      </p:sp>
      <p:sp>
        <p:nvSpPr>
          <p:cNvPr id="66" name="edge-54"/>
          <p:cNvSpPr/>
          <p:nvPr/>
        </p:nvSpPr>
        <p:spPr>
          <a:xfrm>
            <a:off x="5760720" y="5230368"/>
            <a:ext cx="2761488" cy="0"/>
          </a:xfrm>
          <a:prstGeom prst="line">
            <a:avLst/>
          </a:prstGeom>
          <a:noFill/>
          <a:ln w="15875">
            <a:solidFill>
              <a:srgbClr val="C2410C"/>
            </a:solidFill>
            <a:prstDash val="dash"/>
          </a:ln>
        </p:spPr>
      </p:sp>
      <p:sp>
        <p:nvSpPr>
          <p:cNvPr id="67" name="edge-55"/>
          <p:cNvSpPr/>
          <p:nvPr/>
        </p:nvSpPr>
        <p:spPr>
          <a:xfrm flipV="1">
            <a:off x="8522208" y="4681728"/>
            <a:ext cx="0" cy="548640"/>
          </a:xfrm>
          <a:prstGeom prst="line">
            <a:avLst/>
          </a:prstGeom>
          <a:noFill/>
          <a:ln w="15875">
            <a:solidFill>
              <a:srgbClr val="C2410C"/>
            </a:solidFill>
            <a:prstDash val="dash"/>
            <a:tailEnd type="triangle"/>
          </a:ln>
        </p:spPr>
      </p:sp>
      <p:sp>
        <p:nvSpPr>
          <p:cNvPr id="68" name="node-root"/>
          <p:cNvSpPr/>
          <p:nvPr/>
        </p:nvSpPr>
        <p:spPr>
          <a:xfrm>
            <a:off x="320040" y="3419856"/>
            <a:ext cx="1051560" cy="640080"/>
          </a:xfrm>
          <a:prstGeom prst="rect">
            <a:avLst/>
          </a:prstGeom>
          <a:solidFill>
            <a:srgbClr val="1E2733"/>
          </a:solidFill>
          <a:ln w="9525">
            <a:solidFill>
              <a:srgbClr val="1E2733"/>
            </a:solidFill>
            <a:prstDash val="solid"/>
          </a:ln>
        </p:spPr>
      </p:sp>
      <p:sp>
        <p:nvSpPr>
          <p:cNvPr id="69" name="label-root"/>
          <p:cNvSpPr txBox="1"/>
          <p:nvPr/>
        </p:nvSpPr>
        <p:spPr>
          <a:xfrm>
            <a:off x="374904" y="3419856"/>
            <a:ext cx="9418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Simulation</a:t>
            </a:r>
            <a:endParaRPr lang="en-US" sz="1300" dirty="0"/>
          </a:p>
        </p:txBody>
      </p:sp>
      <p:sp>
        <p:nvSpPr>
          <p:cNvPr id="70" name="node-s_ol"/>
          <p:cNvSpPr/>
          <p:nvPr/>
        </p:nvSpPr>
        <p:spPr>
          <a:xfrm>
            <a:off x="1572768" y="987552"/>
            <a:ext cx="1737360" cy="731520"/>
          </a:xfrm>
          <a:prstGeom prst="rect">
            <a:avLst/>
          </a:prstGeom>
          <a:solidFill>
            <a:srgbClr val="FFFFFF"/>
          </a:solidFill>
          <a:ln w="19050">
            <a:solidFill>
              <a:srgbClr val="0E7C66"/>
            </a:solidFill>
            <a:prstDash val="solid"/>
          </a:ln>
        </p:spPr>
      </p:sp>
      <p:sp>
        <p:nvSpPr>
          <p:cNvPr id="71" name="label-s_ol"/>
          <p:cNvSpPr txBox="1"/>
          <p:nvPr/>
        </p:nvSpPr>
        <p:spPr>
          <a:xfrm>
            <a:off x="1627632" y="987552"/>
            <a:ext cx="16276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0E7C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RQ1  </a:t>
            </a:r>
            <a:pPr algn="l" indent="0" marL="0">
              <a:buNone/>
            </a:pPr>
            <a:r>
              <a:rPr lang="en-US" sz="1050" b="1" dirty="0">
                <a:solidFill>
                  <a:srgbClr val="1E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Open-loop Simulation</a:t>
            </a:r>
            <a:endParaRPr lang="en-US" sz="9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5B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로그를 편집 가능한 장면으로 복원</a:t>
            </a:r>
            <a:endParaRPr lang="en-US" sz="950" dirty="0"/>
          </a:p>
        </p:txBody>
      </p:sp>
      <p:sp>
        <p:nvSpPr>
          <p:cNvPr id="72" name="node-s_cl"/>
          <p:cNvSpPr/>
          <p:nvPr/>
        </p:nvSpPr>
        <p:spPr>
          <a:xfrm>
            <a:off x="1572768" y="1975104"/>
            <a:ext cx="1737360" cy="731520"/>
          </a:xfrm>
          <a:prstGeom prst="rect">
            <a:avLst/>
          </a:prstGeom>
          <a:solidFill>
            <a:srgbClr val="FFFFFF"/>
          </a:solidFill>
          <a:ln w="19050">
            <a:solidFill>
              <a:srgbClr val="4F46B8"/>
            </a:solidFill>
            <a:prstDash val="solid"/>
          </a:ln>
        </p:spPr>
      </p:sp>
      <p:sp>
        <p:nvSpPr>
          <p:cNvPr id="73" name="label-s_cl"/>
          <p:cNvSpPr txBox="1"/>
          <p:nvPr/>
        </p:nvSpPr>
        <p:spPr>
          <a:xfrm>
            <a:off x="1627632" y="1975104"/>
            <a:ext cx="16276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4F46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RQ2  </a:t>
            </a:r>
            <a:pPr algn="l" indent="0" marL="0">
              <a:buNone/>
            </a:pPr>
            <a:r>
              <a:rPr lang="en-US" sz="1050" b="1" dirty="0">
                <a:solidFill>
                  <a:srgbClr val="1E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Closed-loop Simulation</a:t>
            </a:r>
            <a:endParaRPr lang="en-US" sz="9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5B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궤적 이탈에도 센서·에이전트 현실성 유지</a:t>
            </a:r>
            <a:endParaRPr lang="en-US" sz="950" dirty="0"/>
          </a:p>
        </p:txBody>
      </p:sp>
      <p:sp>
        <p:nvSpPr>
          <p:cNvPr id="74" name="node-s_req"/>
          <p:cNvSpPr/>
          <p:nvPr/>
        </p:nvSpPr>
        <p:spPr>
          <a:xfrm>
            <a:off x="1572768" y="3396996"/>
            <a:ext cx="1737360" cy="868680"/>
          </a:xfrm>
          <a:prstGeom prst="rect">
            <a:avLst/>
          </a:prstGeom>
          <a:solidFill>
            <a:srgbClr val="FFFFFF"/>
          </a:solidFill>
          <a:ln w="19050">
            <a:solidFill>
              <a:srgbClr val="B4581A"/>
            </a:solidFill>
            <a:prstDash val="solid"/>
          </a:ln>
        </p:spPr>
      </p:sp>
      <p:sp>
        <p:nvSpPr>
          <p:cNvPr id="75" name="label-s_req"/>
          <p:cNvSpPr txBox="1"/>
          <p:nvPr/>
        </p:nvSpPr>
        <p:spPr>
          <a:xfrm>
            <a:off x="1627632" y="3396996"/>
            <a:ext cx="162763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B458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RQ3  </a:t>
            </a:r>
            <a:pPr algn="l" indent="0" marL="0">
              <a:buNone/>
            </a:pPr>
            <a:r>
              <a:rPr lang="en-US" sz="1050" b="1" dirty="0">
                <a:solidFill>
                  <a:srgbClr val="1E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Simulation Requirement</a:t>
            </a:r>
            <a:endParaRPr lang="en-US" sz="9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5B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시뮬 결과가 실차 성능을 예측하는가</a:t>
            </a:r>
            <a:endParaRPr lang="en-US" sz="950" dirty="0"/>
          </a:p>
        </p:txBody>
      </p:sp>
      <p:sp>
        <p:nvSpPr>
          <p:cNvPr id="76" name="node-s_eval"/>
          <p:cNvSpPr/>
          <p:nvPr/>
        </p:nvSpPr>
        <p:spPr>
          <a:xfrm>
            <a:off x="1572768" y="4928616"/>
            <a:ext cx="1737360" cy="603504"/>
          </a:xfrm>
          <a:prstGeom prst="rect">
            <a:avLst/>
          </a:prstGeom>
          <a:solidFill>
            <a:srgbClr val="FFFFFF"/>
          </a:solidFill>
          <a:ln w="19050">
            <a:solidFill>
              <a:srgbClr val="B3264A"/>
            </a:solidFill>
            <a:prstDash val="solid"/>
          </a:ln>
        </p:spPr>
      </p:sp>
      <p:sp>
        <p:nvSpPr>
          <p:cNvPr id="77" name="label-s_eval"/>
          <p:cNvSpPr txBox="1"/>
          <p:nvPr/>
        </p:nvSpPr>
        <p:spPr>
          <a:xfrm>
            <a:off x="1627632" y="4928616"/>
            <a:ext cx="162763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B326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RQ4  </a:t>
            </a:r>
            <a:pPr algn="l" indent="0" marL="0">
              <a:buNone/>
            </a:pPr>
            <a:r>
              <a:rPr lang="en-US" sz="1050" b="1" dirty="0">
                <a:solidFill>
                  <a:srgbClr val="1E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Evaluation Process</a:t>
            </a:r>
            <a:endParaRPr lang="en-US" sz="9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5B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실차 지연을 재현해 평가 왜곡 제거</a:t>
            </a:r>
            <a:endParaRPr lang="en-US" sz="950" dirty="0"/>
          </a:p>
        </p:txBody>
      </p:sp>
      <p:sp>
        <p:nvSpPr>
          <p:cNvPr id="78" name="node-s_aug"/>
          <p:cNvSpPr/>
          <p:nvPr/>
        </p:nvSpPr>
        <p:spPr>
          <a:xfrm>
            <a:off x="1572768" y="5760720"/>
            <a:ext cx="1737360" cy="731520"/>
          </a:xfrm>
          <a:prstGeom prst="rect">
            <a:avLst/>
          </a:prstGeom>
          <a:solidFill>
            <a:srgbClr val="FFFFFF"/>
          </a:solidFill>
          <a:ln w="19050">
            <a:solidFill>
              <a:srgbClr val="3C7A1E"/>
            </a:solidFill>
            <a:prstDash val="solid"/>
          </a:ln>
        </p:spPr>
      </p:sp>
      <p:sp>
        <p:nvSpPr>
          <p:cNvPr id="79" name="label-s_aug"/>
          <p:cNvSpPr txBox="1"/>
          <p:nvPr/>
        </p:nvSpPr>
        <p:spPr>
          <a:xfrm>
            <a:off x="1627632" y="5760720"/>
            <a:ext cx="16276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3C7A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RQ5  </a:t>
            </a:r>
            <a:pPr algn="l" indent="0" marL="0">
              <a:buNone/>
            </a:pPr>
            <a:r>
              <a:rPr lang="en-US" sz="1050" b="1" dirty="0">
                <a:solidFill>
                  <a:srgbClr val="1E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Augmentation</a:t>
            </a:r>
            <a:endParaRPr lang="en-US" sz="9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5B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롱테일 시나리오 생성·발굴</a:t>
            </a:r>
            <a:endParaRPr lang="en-US" sz="950" dirty="0"/>
          </a:p>
        </p:txBody>
      </p:sp>
      <p:sp>
        <p:nvSpPr>
          <p:cNvPr id="80" name="node-dsr"/>
          <p:cNvSpPr/>
          <p:nvPr/>
        </p:nvSpPr>
        <p:spPr>
          <a:xfrm>
            <a:off x="3566160" y="1101852"/>
            <a:ext cx="2194560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B9C0C8"/>
            </a:solidFill>
            <a:prstDash val="solid"/>
          </a:ln>
        </p:spPr>
      </p:sp>
      <p:sp>
        <p:nvSpPr>
          <p:cNvPr id="81" name="label-dsr"/>
          <p:cNvSpPr txBox="1"/>
          <p:nvPr/>
        </p:nvSpPr>
        <p:spPr>
          <a:xfrm>
            <a:off x="3621024" y="1101852"/>
            <a:ext cx="20848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Driving Scene Reconstruction</a:t>
            </a:r>
            <a:endParaRPr lang="en-US" sz="900" dirty="0"/>
          </a:p>
        </p:txBody>
      </p:sp>
      <p:sp>
        <p:nvSpPr>
          <p:cNvPr id="82" name="node-static"/>
          <p:cNvSpPr/>
          <p:nvPr/>
        </p:nvSpPr>
        <p:spPr>
          <a:xfrm>
            <a:off x="5989320" y="978408"/>
            <a:ext cx="1051560" cy="329184"/>
          </a:xfrm>
          <a:prstGeom prst="rect">
            <a:avLst/>
          </a:prstGeom>
          <a:solidFill>
            <a:srgbClr val="FFFFFF"/>
          </a:solidFill>
          <a:ln w="9525">
            <a:solidFill>
              <a:srgbClr val="0E7C66"/>
            </a:solidFill>
            <a:prstDash val="solid"/>
          </a:ln>
        </p:spPr>
      </p:sp>
      <p:sp>
        <p:nvSpPr>
          <p:cNvPr id="83" name="label-static"/>
          <p:cNvSpPr txBox="1"/>
          <p:nvPr/>
        </p:nvSpPr>
        <p:spPr>
          <a:xfrm>
            <a:off x="6044184" y="978408"/>
            <a:ext cx="9418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Static Scene</a:t>
            </a:r>
            <a:endParaRPr lang="en-US" sz="900" dirty="0"/>
          </a:p>
        </p:txBody>
      </p:sp>
      <p:sp>
        <p:nvSpPr>
          <p:cNvPr id="84" name="node-dynamic"/>
          <p:cNvSpPr/>
          <p:nvPr/>
        </p:nvSpPr>
        <p:spPr>
          <a:xfrm>
            <a:off x="5989320" y="1399032"/>
            <a:ext cx="1051560" cy="329184"/>
          </a:xfrm>
          <a:prstGeom prst="rect">
            <a:avLst/>
          </a:prstGeom>
          <a:solidFill>
            <a:srgbClr val="FFFFFF"/>
          </a:solidFill>
          <a:ln w="9525">
            <a:solidFill>
              <a:srgbClr val="0E7C66"/>
            </a:solidFill>
            <a:prstDash val="solid"/>
          </a:ln>
        </p:spPr>
      </p:sp>
      <p:sp>
        <p:nvSpPr>
          <p:cNvPr id="85" name="label-dynamic"/>
          <p:cNvSpPr txBox="1"/>
          <p:nvPr/>
        </p:nvSpPr>
        <p:spPr>
          <a:xfrm>
            <a:off x="6044184" y="1399032"/>
            <a:ext cx="9418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Dynamic Scene</a:t>
            </a:r>
            <a:endParaRPr lang="en-US" sz="900" dirty="0"/>
          </a:p>
        </p:txBody>
      </p:sp>
      <p:sp>
        <p:nvSpPr>
          <p:cNvPr id="86" name="node-reactive"/>
          <p:cNvSpPr/>
          <p:nvPr/>
        </p:nvSpPr>
        <p:spPr>
          <a:xfrm>
            <a:off x="3566160" y="1920240"/>
            <a:ext cx="219456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B9C0C8"/>
            </a:solidFill>
            <a:prstDash val="solid"/>
          </a:ln>
        </p:spPr>
      </p:sp>
      <p:sp>
        <p:nvSpPr>
          <p:cNvPr id="87" name="label-reactive"/>
          <p:cNvSpPr txBox="1"/>
          <p:nvPr/>
        </p:nvSpPr>
        <p:spPr>
          <a:xfrm>
            <a:off x="3621024" y="1920240"/>
            <a:ext cx="20848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Reactive Simulation</a:t>
            </a:r>
            <a:endParaRPr lang="en-US" sz="900" dirty="0"/>
          </a:p>
        </p:txBody>
      </p:sp>
      <p:sp>
        <p:nvSpPr>
          <p:cNvPr id="88" name="node-egotraj"/>
          <p:cNvSpPr/>
          <p:nvPr/>
        </p:nvSpPr>
        <p:spPr>
          <a:xfrm>
            <a:off x="3566160" y="2404872"/>
            <a:ext cx="2194560" cy="329184"/>
          </a:xfrm>
          <a:prstGeom prst="rect">
            <a:avLst/>
          </a:prstGeom>
          <a:solidFill>
            <a:srgbClr val="FFFFFF"/>
          </a:solidFill>
          <a:ln w="9525">
            <a:solidFill>
              <a:srgbClr val="B9C0C8"/>
            </a:solidFill>
            <a:prstDash val="solid"/>
          </a:ln>
        </p:spPr>
      </p:sp>
      <p:sp>
        <p:nvSpPr>
          <p:cNvPr id="89" name="label-egotraj"/>
          <p:cNvSpPr txBox="1"/>
          <p:nvPr/>
        </p:nvSpPr>
        <p:spPr>
          <a:xfrm>
            <a:off x="3621024" y="2404872"/>
            <a:ext cx="20848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Following Ego Vehicle Trajectory</a:t>
            </a:r>
            <a:endParaRPr lang="en-US" sz="900" dirty="0"/>
          </a:p>
        </p:txBody>
      </p:sp>
      <p:sp>
        <p:nvSpPr>
          <p:cNvPr id="90" name="node-sync"/>
          <p:cNvSpPr/>
          <p:nvPr/>
        </p:nvSpPr>
        <p:spPr>
          <a:xfrm>
            <a:off x="3566160" y="2930652"/>
            <a:ext cx="2194560" cy="246888"/>
          </a:xfrm>
          <a:prstGeom prst="rect">
            <a:avLst/>
          </a:prstGeom>
          <a:solidFill>
            <a:srgbClr val="FFFFFF"/>
          </a:solidFill>
          <a:ln w="9525">
            <a:solidFill>
              <a:srgbClr val="B9C0C8"/>
            </a:solidFill>
            <a:prstDash val="solid"/>
          </a:ln>
        </p:spPr>
      </p:sp>
      <p:sp>
        <p:nvSpPr>
          <p:cNvPr id="91" name="label-sync"/>
          <p:cNvSpPr txBox="1"/>
          <p:nvPr/>
        </p:nvSpPr>
        <p:spPr>
          <a:xfrm>
            <a:off x="3621024" y="2930652"/>
            <a:ext cx="208483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자사 데이터 Sensor 동기화</a:t>
            </a:r>
            <a:endParaRPr lang="en-US" sz="900" dirty="0"/>
          </a:p>
        </p:txBody>
      </p:sp>
      <p:sp>
        <p:nvSpPr>
          <p:cNvPr id="92" name="node-metrics"/>
          <p:cNvSpPr/>
          <p:nvPr/>
        </p:nvSpPr>
        <p:spPr>
          <a:xfrm>
            <a:off x="3566160" y="3241548"/>
            <a:ext cx="2194560" cy="246888"/>
          </a:xfrm>
          <a:prstGeom prst="rect">
            <a:avLst/>
          </a:prstGeom>
          <a:solidFill>
            <a:srgbClr val="FFFFFF"/>
          </a:solidFill>
          <a:ln w="9525">
            <a:solidFill>
              <a:srgbClr val="B9C0C8"/>
            </a:solidFill>
            <a:prstDash val="solid"/>
          </a:ln>
        </p:spPr>
      </p:sp>
      <p:sp>
        <p:nvSpPr>
          <p:cNvPr id="93" name="label-metrics"/>
          <p:cNvSpPr txBox="1"/>
          <p:nvPr/>
        </p:nvSpPr>
        <p:spPr>
          <a:xfrm>
            <a:off x="3621024" y="3241548"/>
            <a:ext cx="208483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Metrics Eval · AlpaSim (Collision)</a:t>
            </a:r>
            <a:endParaRPr lang="en-US" sz="900" dirty="0"/>
          </a:p>
        </p:txBody>
      </p:sp>
      <p:sp>
        <p:nvSpPr>
          <p:cNvPr id="94" name="node-speed"/>
          <p:cNvSpPr/>
          <p:nvPr/>
        </p:nvSpPr>
        <p:spPr>
          <a:xfrm>
            <a:off x="3566160" y="3552444"/>
            <a:ext cx="2194560" cy="246888"/>
          </a:xfrm>
          <a:prstGeom prst="rect">
            <a:avLst/>
          </a:prstGeom>
          <a:solidFill>
            <a:srgbClr val="FFFFFF"/>
          </a:solidFill>
          <a:ln w="9525">
            <a:solidFill>
              <a:srgbClr val="B9C0C8"/>
            </a:solidFill>
            <a:prstDash val="solid"/>
          </a:ln>
        </p:spPr>
      </p:sp>
      <p:sp>
        <p:nvSpPr>
          <p:cNvPr id="95" name="label-speed"/>
          <p:cNvSpPr txBox="1"/>
          <p:nvPr/>
        </p:nvSpPr>
        <p:spPr>
          <a:xfrm>
            <a:off x="3621024" y="3552444"/>
            <a:ext cx="208483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Simulation Speed</a:t>
            </a:r>
            <a:endParaRPr lang="en-US" sz="900" dirty="0"/>
          </a:p>
        </p:txBody>
      </p:sp>
      <p:sp>
        <p:nvSpPr>
          <p:cNvPr id="96" name="node-render"/>
          <p:cNvSpPr/>
          <p:nvPr/>
        </p:nvSpPr>
        <p:spPr>
          <a:xfrm>
            <a:off x="3566160" y="3863340"/>
            <a:ext cx="2194560" cy="246888"/>
          </a:xfrm>
          <a:prstGeom prst="rect">
            <a:avLst/>
          </a:prstGeom>
          <a:solidFill>
            <a:srgbClr val="FFFFFF"/>
          </a:solidFill>
          <a:ln w="9525">
            <a:solidFill>
              <a:srgbClr val="B9C0C8"/>
            </a:solidFill>
            <a:prstDash val="solid"/>
          </a:ln>
        </p:spPr>
      </p:sp>
      <p:sp>
        <p:nvSpPr>
          <p:cNvPr id="97" name="label-render"/>
          <p:cNvSpPr txBox="1"/>
          <p:nvPr/>
        </p:nvSpPr>
        <p:spPr>
          <a:xfrm>
            <a:off x="3621024" y="3863340"/>
            <a:ext cx="208483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Rendering Quality</a:t>
            </a:r>
            <a:endParaRPr lang="en-US" sz="900" dirty="0"/>
          </a:p>
        </p:txBody>
      </p:sp>
      <p:sp>
        <p:nvSpPr>
          <p:cNvPr id="98" name="node-e2ecmp"/>
          <p:cNvSpPr/>
          <p:nvPr/>
        </p:nvSpPr>
        <p:spPr>
          <a:xfrm>
            <a:off x="3566160" y="4174236"/>
            <a:ext cx="2194560" cy="246888"/>
          </a:xfrm>
          <a:prstGeom prst="rect">
            <a:avLst/>
          </a:prstGeom>
          <a:solidFill>
            <a:srgbClr val="FFFFFF"/>
          </a:solidFill>
          <a:ln w="9525">
            <a:solidFill>
              <a:srgbClr val="B9C0C8"/>
            </a:solidFill>
            <a:prstDash val="solid"/>
          </a:ln>
        </p:spPr>
      </p:sp>
      <p:sp>
        <p:nvSpPr>
          <p:cNvPr id="99" name="label-e2ecmp"/>
          <p:cNvSpPr txBox="1"/>
          <p:nvPr/>
        </p:nvSpPr>
        <p:spPr>
          <a:xfrm>
            <a:off x="3621024" y="4174236"/>
            <a:ext cx="208483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E2E 모델 비교 환경 (자사 모델 포함)</a:t>
            </a:r>
            <a:endParaRPr lang="en-US" sz="900" dirty="0"/>
          </a:p>
        </p:txBody>
      </p:sp>
      <p:sp>
        <p:nvSpPr>
          <p:cNvPr id="100" name="node-sim2real"/>
          <p:cNvSpPr/>
          <p:nvPr/>
        </p:nvSpPr>
        <p:spPr>
          <a:xfrm>
            <a:off x="3566160" y="4485132"/>
            <a:ext cx="2194560" cy="246888"/>
          </a:xfrm>
          <a:prstGeom prst="rect">
            <a:avLst/>
          </a:prstGeom>
          <a:solidFill>
            <a:srgbClr val="FFFFFF"/>
          </a:solidFill>
          <a:ln w="9525">
            <a:solidFill>
              <a:srgbClr val="B9C0C8"/>
            </a:solidFill>
            <a:prstDash val="solid"/>
          </a:ln>
        </p:spPr>
      </p:sp>
      <p:sp>
        <p:nvSpPr>
          <p:cNvPr id="101" name="label-sim2real"/>
          <p:cNvSpPr txBox="1"/>
          <p:nvPr/>
        </p:nvSpPr>
        <p:spPr>
          <a:xfrm>
            <a:off x="3621024" y="4485132"/>
            <a:ext cx="208483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Sim-to-Real gap 최소화</a:t>
            </a:r>
            <a:endParaRPr lang="en-US" sz="900" dirty="0"/>
          </a:p>
        </p:txBody>
      </p:sp>
      <p:sp>
        <p:nvSpPr>
          <p:cNvPr id="102" name="node-latency"/>
          <p:cNvSpPr/>
          <p:nvPr/>
        </p:nvSpPr>
        <p:spPr>
          <a:xfrm>
            <a:off x="3566160" y="5020056"/>
            <a:ext cx="2194560" cy="420624"/>
          </a:xfrm>
          <a:prstGeom prst="rect">
            <a:avLst/>
          </a:prstGeom>
          <a:solidFill>
            <a:srgbClr val="FFFFFF"/>
          </a:solidFill>
          <a:ln w="9525">
            <a:solidFill>
              <a:srgbClr val="B9C0C8"/>
            </a:solidFill>
            <a:prstDash val="solid"/>
          </a:ln>
        </p:spPr>
      </p:sp>
      <p:sp>
        <p:nvSpPr>
          <p:cNvPr id="103" name="label-latency"/>
          <p:cNvSpPr txBox="1"/>
          <p:nvPr/>
        </p:nvSpPr>
        <p:spPr>
          <a:xfrm>
            <a:off x="3621024" y="5020056"/>
            <a:ext cx="20848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E2E Inference-to-Actuation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1E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Latency 동기화</a:t>
            </a:r>
            <a:endParaRPr lang="en-US" sz="900" dirty="0"/>
          </a:p>
        </p:txBody>
      </p:sp>
      <p:sp>
        <p:nvSpPr>
          <p:cNvPr id="104" name="node-scengen"/>
          <p:cNvSpPr/>
          <p:nvPr/>
        </p:nvSpPr>
        <p:spPr>
          <a:xfrm>
            <a:off x="3566160" y="5705856"/>
            <a:ext cx="219456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B9C0C8"/>
            </a:solidFill>
            <a:prstDash val="solid"/>
          </a:ln>
        </p:spPr>
      </p:sp>
      <p:sp>
        <p:nvSpPr>
          <p:cNvPr id="105" name="label-scengen"/>
          <p:cNvSpPr txBox="1"/>
          <p:nvPr/>
        </p:nvSpPr>
        <p:spPr>
          <a:xfrm>
            <a:off x="3621024" y="5705856"/>
            <a:ext cx="20848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Scenario Generation</a:t>
            </a:r>
            <a:endParaRPr lang="en-US" sz="90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3C7A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Scenario Dreamer</a:t>
            </a:r>
            <a:endParaRPr lang="en-US" sz="900" dirty="0"/>
          </a:p>
        </p:txBody>
      </p:sp>
      <p:sp>
        <p:nvSpPr>
          <p:cNvPr id="106" name="node-scenmine"/>
          <p:cNvSpPr/>
          <p:nvPr/>
        </p:nvSpPr>
        <p:spPr>
          <a:xfrm>
            <a:off x="3566160" y="6181344"/>
            <a:ext cx="2194560" cy="347472"/>
          </a:xfrm>
          <a:prstGeom prst="rect">
            <a:avLst/>
          </a:prstGeom>
          <a:solidFill>
            <a:srgbClr val="FFFFFF"/>
          </a:solidFill>
          <a:ln w="9525">
            <a:solidFill>
              <a:srgbClr val="B9C0C8"/>
            </a:solidFill>
            <a:prstDash val="solid"/>
          </a:ln>
        </p:spPr>
      </p:sp>
      <p:sp>
        <p:nvSpPr>
          <p:cNvPr id="107" name="label-scenmine"/>
          <p:cNvSpPr txBox="1"/>
          <p:nvPr/>
        </p:nvSpPr>
        <p:spPr>
          <a:xfrm>
            <a:off x="3621024" y="6181344"/>
            <a:ext cx="20848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Scenario Mining</a:t>
            </a:r>
            <a:endParaRPr lang="en-US" sz="90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3C7A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Scenario Dreamer</a:t>
            </a:r>
            <a:endParaRPr lang="en-US" sz="900" dirty="0"/>
          </a:p>
        </p:txBody>
      </p:sp>
      <p:sp>
        <p:nvSpPr>
          <p:cNvPr id="108" name="node-edit"/>
          <p:cNvSpPr/>
          <p:nvPr/>
        </p:nvSpPr>
        <p:spPr>
          <a:xfrm>
            <a:off x="7543800" y="1101852"/>
            <a:ext cx="1965960" cy="502920"/>
          </a:xfrm>
          <a:prstGeom prst="rect">
            <a:avLst/>
          </a:prstGeom>
          <a:solidFill>
            <a:srgbClr val="26313F"/>
          </a:solidFill>
          <a:ln w="9525">
            <a:solidFill>
              <a:srgbClr val="26313F"/>
            </a:solidFill>
            <a:prstDash val="solid"/>
          </a:ln>
        </p:spPr>
      </p:sp>
      <p:sp>
        <p:nvSpPr>
          <p:cNvPr id="109" name="label-edit"/>
          <p:cNvSpPr txBox="1"/>
          <p:nvPr/>
        </p:nvSpPr>
        <p:spPr>
          <a:xfrm>
            <a:off x="7598664" y="1101852"/>
            <a:ext cx="18562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Driving Scene Editing</a:t>
            </a:r>
            <a:endParaRPr lang="en-US" sz="9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D9E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World-on-Rails</a:t>
            </a:r>
            <a:endParaRPr lang="en-US" sz="950" dirty="0"/>
          </a:p>
        </p:txBody>
      </p:sp>
      <p:sp>
        <p:nvSpPr>
          <p:cNvPr id="110" name="node-multiagent"/>
          <p:cNvSpPr/>
          <p:nvPr/>
        </p:nvSpPr>
        <p:spPr>
          <a:xfrm>
            <a:off x="7543800" y="1920240"/>
            <a:ext cx="1965960" cy="384048"/>
          </a:xfrm>
          <a:prstGeom prst="rect">
            <a:avLst/>
          </a:prstGeom>
          <a:solidFill>
            <a:srgbClr val="26313F"/>
          </a:solidFill>
          <a:ln w="9525">
            <a:solidFill>
              <a:srgbClr val="26313F"/>
            </a:solidFill>
            <a:prstDash val="solid"/>
          </a:ln>
        </p:spPr>
      </p:sp>
      <p:sp>
        <p:nvSpPr>
          <p:cNvPr id="111" name="label-multiagent"/>
          <p:cNvSpPr txBox="1"/>
          <p:nvPr/>
        </p:nvSpPr>
        <p:spPr>
          <a:xfrm>
            <a:off x="7598664" y="1920240"/>
            <a:ext cx="18562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Multi-Agent Simulation</a:t>
            </a:r>
            <a:endParaRPr lang="en-US" sz="950" dirty="0"/>
          </a:p>
        </p:txBody>
      </p:sp>
      <p:sp>
        <p:nvSpPr>
          <p:cNvPr id="112" name="node-rqi"/>
          <p:cNvSpPr/>
          <p:nvPr/>
        </p:nvSpPr>
        <p:spPr>
          <a:xfrm>
            <a:off x="7543800" y="2340864"/>
            <a:ext cx="1965960" cy="457200"/>
          </a:xfrm>
          <a:prstGeom prst="rect">
            <a:avLst/>
          </a:prstGeom>
          <a:solidFill>
            <a:srgbClr val="26313F"/>
          </a:solidFill>
          <a:ln w="9525">
            <a:solidFill>
              <a:srgbClr val="26313F"/>
            </a:solidFill>
            <a:prstDash val="solid"/>
          </a:ln>
        </p:spPr>
      </p:sp>
      <p:sp>
        <p:nvSpPr>
          <p:cNvPr id="113" name="label-rqi"/>
          <p:cNvSpPr txBox="1"/>
          <p:nvPr/>
        </p:nvSpPr>
        <p:spPr>
          <a:xfrm>
            <a:off x="7598664" y="2340864"/>
            <a:ext cx="18562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Reconstruction Quality Improvement</a:t>
            </a:r>
            <a:endParaRPr lang="en-US" sz="9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D9E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ArtiFixer · OneFixer</a:t>
            </a:r>
            <a:endParaRPr lang="en-US" sz="950" dirty="0"/>
          </a:p>
        </p:txBody>
      </p:sp>
      <p:sp>
        <p:nvSpPr>
          <p:cNvPr id="114" name="node-gcomp"/>
          <p:cNvSpPr/>
          <p:nvPr/>
        </p:nvSpPr>
        <p:spPr>
          <a:xfrm>
            <a:off x="7543800" y="3483864"/>
            <a:ext cx="1965960" cy="384048"/>
          </a:xfrm>
          <a:prstGeom prst="rect">
            <a:avLst/>
          </a:prstGeom>
          <a:solidFill>
            <a:srgbClr val="26313F"/>
          </a:solidFill>
          <a:ln w="9525">
            <a:solidFill>
              <a:srgbClr val="26313F"/>
            </a:solidFill>
            <a:prstDash val="solid"/>
          </a:ln>
        </p:spPr>
      </p:sp>
      <p:sp>
        <p:nvSpPr>
          <p:cNvPr id="115" name="label-gcomp"/>
          <p:cNvSpPr txBox="1"/>
          <p:nvPr/>
        </p:nvSpPr>
        <p:spPr>
          <a:xfrm>
            <a:off x="7598664" y="3483864"/>
            <a:ext cx="18562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Gaussian Compression</a:t>
            </a:r>
            <a:endParaRPr lang="en-US" sz="950" dirty="0"/>
          </a:p>
        </p:txBody>
      </p:sp>
      <p:sp>
        <p:nvSpPr>
          <p:cNvPr id="116" name="node-sensorplat"/>
          <p:cNvSpPr/>
          <p:nvPr/>
        </p:nvSpPr>
        <p:spPr>
          <a:xfrm>
            <a:off x="7543800" y="4224528"/>
            <a:ext cx="1965960" cy="457200"/>
          </a:xfrm>
          <a:prstGeom prst="rect">
            <a:avLst/>
          </a:prstGeom>
          <a:solidFill>
            <a:srgbClr val="26313F"/>
          </a:solidFill>
          <a:ln w="9525">
            <a:solidFill>
              <a:srgbClr val="26313F"/>
            </a:solidFill>
            <a:prstDash val="solid"/>
          </a:ln>
        </p:spPr>
      </p:sp>
      <p:sp>
        <p:nvSpPr>
          <p:cNvPr id="117" name="label-sensorplat"/>
          <p:cNvSpPr txBox="1"/>
          <p:nvPr/>
        </p:nvSpPr>
        <p:spPr>
          <a:xfrm>
            <a:off x="7598664" y="4224528"/>
            <a:ext cx="18562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Sensor Integration Platform</a:t>
            </a:r>
            <a:endParaRPr lang="en-US" sz="9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D9E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NVIDIA · NCore · NuRec · AlpaSim</a:t>
            </a:r>
            <a:endParaRPr lang="en-US" sz="950" dirty="0"/>
          </a:p>
        </p:txBody>
      </p:sp>
      <p:sp>
        <p:nvSpPr>
          <p:cNvPr id="118" name="node-wm"/>
          <p:cNvSpPr/>
          <p:nvPr/>
        </p:nvSpPr>
        <p:spPr>
          <a:xfrm>
            <a:off x="9875520" y="1700784"/>
            <a:ext cx="1965960" cy="822960"/>
          </a:xfrm>
          <a:prstGeom prst="rect">
            <a:avLst/>
          </a:prstGeom>
          <a:solidFill>
            <a:srgbClr val="4B2A7B"/>
          </a:solidFill>
          <a:ln w="9525">
            <a:solidFill>
              <a:srgbClr val="4B2A7B"/>
            </a:solidFill>
            <a:prstDash val="solid"/>
          </a:ln>
        </p:spPr>
      </p:sp>
      <p:sp>
        <p:nvSpPr>
          <p:cNvPr id="119" name="label-wm"/>
          <p:cNvSpPr txBox="1"/>
          <p:nvPr/>
        </p:nvSpPr>
        <p:spPr>
          <a:xfrm>
            <a:off x="9930384" y="1700784"/>
            <a:ext cx="185623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World Model</a:t>
            </a:r>
            <a:endParaRPr lang="en-US" sz="110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D9E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Conditional Generation</a:t>
            </a:r>
            <a:endParaRPr lang="en-US" sz="110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D9E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Cosmos-Transfer</a:t>
            </a:r>
            <a:endParaRPr lang="en-US" sz="1100" dirty="0"/>
          </a:p>
        </p:txBody>
      </p:sp>
      <p:sp>
        <p:nvSpPr>
          <p:cNvPr id="120" name="Text 118"/>
          <p:cNvSpPr txBox="1"/>
          <p:nvPr/>
        </p:nvSpPr>
        <p:spPr>
          <a:xfrm>
            <a:off x="7543800" y="658368"/>
            <a:ext cx="1965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B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핵심 기술 모듈</a:t>
            </a:r>
            <a:endParaRPr lang="en-US" sz="900" dirty="0"/>
          </a:p>
        </p:txBody>
      </p:sp>
      <p:sp>
        <p:nvSpPr>
          <p:cNvPr id="121" name="Text 119"/>
          <p:cNvSpPr txBox="1"/>
          <p:nvPr/>
        </p:nvSpPr>
        <p:spPr>
          <a:xfrm>
            <a:off x="9875520" y="658368"/>
            <a:ext cx="1965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B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생성 엔진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E2E Driving Simulation Pipeline</dc:title>
  <dc:subject>PptxGenJS Presentation</dc:subject>
  <dc:creator>PptxGenJS</dc:creator>
  <cp:lastModifiedBy>PptxGenJS</cp:lastModifiedBy>
  <cp:revision>1</cp:revision>
  <dcterms:created xsi:type="dcterms:W3CDTF">2026-10-27T05:01:00Z</dcterms:created>
  <dcterms:modified xsi:type="dcterms:W3CDTF">2026-10-27T05:01:00Z</dcterms:modified>
</cp:coreProperties>
</file>